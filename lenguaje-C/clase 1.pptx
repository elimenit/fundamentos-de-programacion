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3"/>
  </p:notesMasterIdLst>
  <p:sldIdLst>
    <p:sldId id="256" r:id="rId2"/>
    <p:sldId id="257" r:id="rId3"/>
    <p:sldId id="258" r:id="rId4"/>
    <p:sldId id="262" r:id="rId5"/>
    <p:sldId id="263" r:id="rId6"/>
    <p:sldId id="297" r:id="rId7"/>
    <p:sldId id="267" r:id="rId8"/>
    <p:sldId id="268" r:id="rId9"/>
    <p:sldId id="269" r:id="rId10"/>
    <p:sldId id="270" r:id="rId11"/>
    <p:sldId id="271" r:id="rId12"/>
    <p:sldId id="272" r:id="rId13"/>
    <p:sldId id="273" r:id="rId14"/>
    <p:sldId id="274" r:id="rId15"/>
    <p:sldId id="281" r:id="rId16"/>
    <p:sldId id="275" r:id="rId17"/>
    <p:sldId id="276" r:id="rId18"/>
    <p:sldId id="261" r:id="rId19"/>
    <p:sldId id="277" r:id="rId20"/>
    <p:sldId id="294" r:id="rId21"/>
    <p:sldId id="259" r:id="rId22"/>
    <p:sldId id="260" r:id="rId23"/>
    <p:sldId id="278" r:id="rId24"/>
    <p:sldId id="279" r:id="rId25"/>
    <p:sldId id="264" r:id="rId26"/>
    <p:sldId id="280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5" r:id="rId40"/>
    <p:sldId id="296" r:id="rId41"/>
    <p:sldId id="266" r:id="rId42"/>
  </p:sldIdLst>
  <p:sldSz cx="12192000" cy="6858000"/>
  <p:notesSz cx="6858000" cy="9144000"/>
  <p:embeddedFontLst>
    <p:embeddedFont>
      <p:font typeface="Roboto Mono" panose="00000009000000000000" pitchFamily="49" charset="0"/>
      <p:regular r:id="rId44"/>
      <p:bold r:id="rId45"/>
      <p:italic r:id="rId46"/>
      <p:boldItalic r:id="rId47"/>
    </p:embeddedFont>
    <p:embeddedFont>
      <p:font typeface="Roboto Mono ExtraLight" panose="020B0604020202020204" charset="0"/>
      <p:regular r:id="rId48"/>
      <p:bold r:id="rId49"/>
      <p:italic r:id="rId50"/>
      <p:boldItalic r:id="rId5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2" roundtripDataSignature="AMtx7mjok2qrNk/H7rHevtCOtq5o7Cili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Estilo medio 2 - Énfasis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317" y="4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4.fntdata"/><Relationship Id="rId50" Type="http://schemas.openxmlformats.org/officeDocument/2006/relationships/font" Target="fonts/font7.fntdata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2.fntdata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.fntdata"/><Relationship Id="rId52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font" Target="fonts/font5.fntdata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font" Target="fonts/font8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3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2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‹Nº›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6" name="Google Shape;56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4" name="Google Shape;6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Placa para títulos de presentaciones</a:t>
            </a:r>
            <a:endParaRPr/>
          </a:p>
        </p:txBody>
      </p:sp>
      <p:sp>
        <p:nvSpPr>
          <p:cNvPr id="65" name="Google Shape;65;p2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3" name="Google Shape;73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18c986ea93_1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3" name="Google Shape;103;g218c986ea93_1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3" name="Google Shape;11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>
          <a:extLst>
            <a:ext uri="{FF2B5EF4-FFF2-40B4-BE49-F238E27FC236}">
              <a16:creationId xmlns:a16="http://schemas.microsoft.com/office/drawing/2014/main" id="{07A87D67-2C33-BA83-F84B-45B04EC64E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:notes">
            <a:extLst>
              <a:ext uri="{FF2B5EF4-FFF2-40B4-BE49-F238E27FC236}">
                <a16:creationId xmlns:a16="http://schemas.microsoft.com/office/drawing/2014/main" id="{B2F2B283-0A4F-2999-38BA-FA971CC1CF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3" name="Google Shape;113;p1:notes">
            <a:extLst>
              <a:ext uri="{FF2B5EF4-FFF2-40B4-BE49-F238E27FC236}">
                <a16:creationId xmlns:a16="http://schemas.microsoft.com/office/drawing/2014/main" id="{6113963D-6C36-8E3A-85DE-4995E59D630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460899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>
          <a:extLst>
            <a:ext uri="{FF2B5EF4-FFF2-40B4-BE49-F238E27FC236}">
              <a16:creationId xmlns:a16="http://schemas.microsoft.com/office/drawing/2014/main" id="{52A3142D-EB20-B895-994C-41A8724CC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:notes">
            <a:extLst>
              <a:ext uri="{FF2B5EF4-FFF2-40B4-BE49-F238E27FC236}">
                <a16:creationId xmlns:a16="http://schemas.microsoft.com/office/drawing/2014/main" id="{0D525233-AB8B-C7AD-2806-AB17EBDE7F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3" name="Google Shape;113;p1:notes">
            <a:extLst>
              <a:ext uri="{FF2B5EF4-FFF2-40B4-BE49-F238E27FC236}">
                <a16:creationId xmlns:a16="http://schemas.microsoft.com/office/drawing/2014/main" id="{F892F1ED-B5F3-6504-6140-1EDB16AA07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995203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>
          <a:extLst>
            <a:ext uri="{FF2B5EF4-FFF2-40B4-BE49-F238E27FC236}">
              <a16:creationId xmlns:a16="http://schemas.microsoft.com/office/drawing/2014/main" id="{0BD5ECBA-2B73-E53D-7D13-868AC75369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:notes">
            <a:extLst>
              <a:ext uri="{FF2B5EF4-FFF2-40B4-BE49-F238E27FC236}">
                <a16:creationId xmlns:a16="http://schemas.microsoft.com/office/drawing/2014/main" id="{FE3490F6-9ED5-0E47-AC2B-6FB776CCE1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3" name="Google Shape;113;p1:notes">
            <a:extLst>
              <a:ext uri="{FF2B5EF4-FFF2-40B4-BE49-F238E27FC236}">
                <a16:creationId xmlns:a16="http://schemas.microsoft.com/office/drawing/2014/main" id="{F249D6C4-34AC-F2E3-A77E-D9D334AA2D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6718517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>
          <a:extLst>
            <a:ext uri="{FF2B5EF4-FFF2-40B4-BE49-F238E27FC236}">
              <a16:creationId xmlns:a16="http://schemas.microsoft.com/office/drawing/2014/main" id="{BFD268D8-CFA0-9E7C-52B8-87FC8200A1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:notes">
            <a:extLst>
              <a:ext uri="{FF2B5EF4-FFF2-40B4-BE49-F238E27FC236}">
                <a16:creationId xmlns:a16="http://schemas.microsoft.com/office/drawing/2014/main" id="{8EE050AF-F76C-0D43-28B2-D2DA8A2F40A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3" name="Google Shape;113;p1:notes">
            <a:extLst>
              <a:ext uri="{FF2B5EF4-FFF2-40B4-BE49-F238E27FC236}">
                <a16:creationId xmlns:a16="http://schemas.microsoft.com/office/drawing/2014/main" id="{D54016E7-ECD2-243D-6157-BA8E31083A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0607336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>
          <a:extLst>
            <a:ext uri="{FF2B5EF4-FFF2-40B4-BE49-F238E27FC236}">
              <a16:creationId xmlns:a16="http://schemas.microsoft.com/office/drawing/2014/main" id="{885CBE4C-1B40-6DBC-D017-C3CC33BA0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:notes">
            <a:extLst>
              <a:ext uri="{FF2B5EF4-FFF2-40B4-BE49-F238E27FC236}">
                <a16:creationId xmlns:a16="http://schemas.microsoft.com/office/drawing/2014/main" id="{4CA65200-4A6A-FC3D-615E-9B2E3FBC445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3" name="Google Shape;113;p1:notes">
            <a:extLst>
              <a:ext uri="{FF2B5EF4-FFF2-40B4-BE49-F238E27FC236}">
                <a16:creationId xmlns:a16="http://schemas.microsoft.com/office/drawing/2014/main" id="{0870CEBF-EA5D-D37E-6A79-4CAB3013679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5640379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>
          <a:extLst>
            <a:ext uri="{FF2B5EF4-FFF2-40B4-BE49-F238E27FC236}">
              <a16:creationId xmlns:a16="http://schemas.microsoft.com/office/drawing/2014/main" id="{3E7932C6-3825-D2F0-AE99-3CE53CFBC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:notes">
            <a:extLst>
              <a:ext uri="{FF2B5EF4-FFF2-40B4-BE49-F238E27FC236}">
                <a16:creationId xmlns:a16="http://schemas.microsoft.com/office/drawing/2014/main" id="{845A4BBB-F669-B960-FFF6-3C2BC71093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3" name="Google Shape;113;p1:notes">
            <a:extLst>
              <a:ext uri="{FF2B5EF4-FFF2-40B4-BE49-F238E27FC236}">
                <a16:creationId xmlns:a16="http://schemas.microsoft.com/office/drawing/2014/main" id="{FA24BD34-3E82-CB75-A6CA-C1178D2DD1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7854202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>
          <a:extLst>
            <a:ext uri="{FF2B5EF4-FFF2-40B4-BE49-F238E27FC236}">
              <a16:creationId xmlns:a16="http://schemas.microsoft.com/office/drawing/2014/main" id="{1D5F141F-C65C-C802-D336-8AF73D5DC1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:notes">
            <a:extLst>
              <a:ext uri="{FF2B5EF4-FFF2-40B4-BE49-F238E27FC236}">
                <a16:creationId xmlns:a16="http://schemas.microsoft.com/office/drawing/2014/main" id="{A13CF2E6-C111-E8D9-9198-8EC71F077E1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3" name="Google Shape;113;p1:notes">
            <a:extLst>
              <a:ext uri="{FF2B5EF4-FFF2-40B4-BE49-F238E27FC236}">
                <a16:creationId xmlns:a16="http://schemas.microsoft.com/office/drawing/2014/main" id="{F21BD729-0189-3083-380A-54E3B9F1C2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451105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>
          <a:extLst>
            <a:ext uri="{FF2B5EF4-FFF2-40B4-BE49-F238E27FC236}">
              <a16:creationId xmlns:a16="http://schemas.microsoft.com/office/drawing/2014/main" id="{BC5C5B6F-BECC-8100-B332-70D1D4C48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:notes">
            <a:extLst>
              <a:ext uri="{FF2B5EF4-FFF2-40B4-BE49-F238E27FC236}">
                <a16:creationId xmlns:a16="http://schemas.microsoft.com/office/drawing/2014/main" id="{76D97116-586A-E67D-1CC4-6974BCC260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3" name="Google Shape;113;p1:notes">
            <a:extLst>
              <a:ext uri="{FF2B5EF4-FFF2-40B4-BE49-F238E27FC236}">
                <a16:creationId xmlns:a16="http://schemas.microsoft.com/office/drawing/2014/main" id="{38E1F3E2-64EA-CE10-4040-1C9BCDF6C4C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61280326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>
          <a:extLst>
            <a:ext uri="{FF2B5EF4-FFF2-40B4-BE49-F238E27FC236}">
              <a16:creationId xmlns:a16="http://schemas.microsoft.com/office/drawing/2014/main" id="{D856EE51-E0B5-9E59-75B4-8C998DE36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:notes">
            <a:extLst>
              <a:ext uri="{FF2B5EF4-FFF2-40B4-BE49-F238E27FC236}">
                <a16:creationId xmlns:a16="http://schemas.microsoft.com/office/drawing/2014/main" id="{14A04363-37DB-33EE-E819-E11BF48E72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3" name="Google Shape;113;p1:notes">
            <a:extLst>
              <a:ext uri="{FF2B5EF4-FFF2-40B4-BE49-F238E27FC236}">
                <a16:creationId xmlns:a16="http://schemas.microsoft.com/office/drawing/2014/main" id="{0460ADAE-8357-B51D-A8F7-3150D05A855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24643219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>
          <a:extLst>
            <a:ext uri="{FF2B5EF4-FFF2-40B4-BE49-F238E27FC236}">
              <a16:creationId xmlns:a16="http://schemas.microsoft.com/office/drawing/2014/main" id="{2AB2AFA4-CAB1-3790-4F37-6599861A90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:notes">
            <a:extLst>
              <a:ext uri="{FF2B5EF4-FFF2-40B4-BE49-F238E27FC236}">
                <a16:creationId xmlns:a16="http://schemas.microsoft.com/office/drawing/2014/main" id="{5445DF93-8984-F319-E895-4B27ADF5B8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3" name="Google Shape;113;p1:notes">
            <a:extLst>
              <a:ext uri="{FF2B5EF4-FFF2-40B4-BE49-F238E27FC236}">
                <a16:creationId xmlns:a16="http://schemas.microsoft.com/office/drawing/2014/main" id="{9773A915-CD3A-FB5E-5C15-C45DDB73E65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92446684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>
          <a:extLst>
            <a:ext uri="{FF2B5EF4-FFF2-40B4-BE49-F238E27FC236}">
              <a16:creationId xmlns:a16="http://schemas.microsoft.com/office/drawing/2014/main" id="{F9B7E18E-9909-F96B-365E-67996FF9A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:notes">
            <a:extLst>
              <a:ext uri="{FF2B5EF4-FFF2-40B4-BE49-F238E27FC236}">
                <a16:creationId xmlns:a16="http://schemas.microsoft.com/office/drawing/2014/main" id="{47ACA238-CE6A-4EBA-265E-8FA9140FEB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3" name="Google Shape;113;p1:notes">
            <a:extLst>
              <a:ext uri="{FF2B5EF4-FFF2-40B4-BE49-F238E27FC236}">
                <a16:creationId xmlns:a16="http://schemas.microsoft.com/office/drawing/2014/main" id="{C1C46EEA-B1CA-44E6-4AA7-2E18E47FB7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008147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>
          <a:extLst>
            <a:ext uri="{FF2B5EF4-FFF2-40B4-BE49-F238E27FC236}">
              <a16:creationId xmlns:a16="http://schemas.microsoft.com/office/drawing/2014/main" id="{2EA54C2C-6A22-1E85-A80E-71ED06CBF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:notes">
            <a:extLst>
              <a:ext uri="{FF2B5EF4-FFF2-40B4-BE49-F238E27FC236}">
                <a16:creationId xmlns:a16="http://schemas.microsoft.com/office/drawing/2014/main" id="{01B2CA7A-7AF3-E4C3-3129-25557201FA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3" name="Google Shape;113;p1:notes">
            <a:extLst>
              <a:ext uri="{FF2B5EF4-FFF2-40B4-BE49-F238E27FC236}">
                <a16:creationId xmlns:a16="http://schemas.microsoft.com/office/drawing/2014/main" id="{66324BEF-F5D0-463C-4736-CDF94807BA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6255269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3" name="Google Shape;9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>
          <a:extLst>
            <a:ext uri="{FF2B5EF4-FFF2-40B4-BE49-F238E27FC236}">
              <a16:creationId xmlns:a16="http://schemas.microsoft.com/office/drawing/2014/main" id="{3AA875DE-A737-6735-0379-1EAC5C95B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:notes">
            <a:extLst>
              <a:ext uri="{FF2B5EF4-FFF2-40B4-BE49-F238E27FC236}">
                <a16:creationId xmlns:a16="http://schemas.microsoft.com/office/drawing/2014/main" id="{F9511051-60E0-5731-A1CE-04C89102208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3" name="Google Shape;113;p1:notes">
            <a:extLst>
              <a:ext uri="{FF2B5EF4-FFF2-40B4-BE49-F238E27FC236}">
                <a16:creationId xmlns:a16="http://schemas.microsoft.com/office/drawing/2014/main" id="{89BF9FA2-AE5B-8FBB-DFFF-EC0165B341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11716189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>
          <a:extLst>
            <a:ext uri="{FF2B5EF4-FFF2-40B4-BE49-F238E27FC236}">
              <a16:creationId xmlns:a16="http://schemas.microsoft.com/office/drawing/2014/main" id="{75180DD5-DB49-0B6D-5566-34C2773A8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:notes">
            <a:extLst>
              <a:ext uri="{FF2B5EF4-FFF2-40B4-BE49-F238E27FC236}">
                <a16:creationId xmlns:a16="http://schemas.microsoft.com/office/drawing/2014/main" id="{81F20B6A-11C6-5BEE-84DE-781D72C075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3" name="Google Shape;113;p1:notes">
            <a:extLst>
              <a:ext uri="{FF2B5EF4-FFF2-40B4-BE49-F238E27FC236}">
                <a16:creationId xmlns:a16="http://schemas.microsoft.com/office/drawing/2014/main" id="{D0E5FC0D-1342-431A-0987-8ACF1292785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94462341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9" name="Google Shape;7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7" name="Google Shape;8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6" name="Google Shape;9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5" name="Google Shape;10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5" name="Google Shape;12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5" name="Google Shape;11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0" name="Google Shape;80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8" name="Google Shape;8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8" name="Google Shape;9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5" name="Google Shape;10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0" name="Google Shape;12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0" name="Google Shape;80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8" name="Google Shape;8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5" name="Google Shape;9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4" name="Google Shape;10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3" name="Google Shape;11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2" name="Google Shape;12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>
          <a:extLst>
            <a:ext uri="{FF2B5EF4-FFF2-40B4-BE49-F238E27FC236}">
              <a16:creationId xmlns:a16="http://schemas.microsoft.com/office/drawing/2014/main" id="{DFB74EBB-0F1A-2551-5FB1-16E67087E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:notes">
            <a:extLst>
              <a:ext uri="{FF2B5EF4-FFF2-40B4-BE49-F238E27FC236}">
                <a16:creationId xmlns:a16="http://schemas.microsoft.com/office/drawing/2014/main" id="{ED25DC7E-6AF8-9799-A31C-146F857923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3" name="Google Shape;113;p5:notes">
            <a:extLst>
              <a:ext uri="{FF2B5EF4-FFF2-40B4-BE49-F238E27FC236}">
                <a16:creationId xmlns:a16="http://schemas.microsoft.com/office/drawing/2014/main" id="{2659B284-F830-1CA2-EB76-5209A8E167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951780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>
          <a:extLst>
            <a:ext uri="{FF2B5EF4-FFF2-40B4-BE49-F238E27FC236}">
              <a16:creationId xmlns:a16="http://schemas.microsoft.com/office/drawing/2014/main" id="{CFA3A525-23CD-17E5-169C-79AE3523C8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:notes">
            <a:extLst>
              <a:ext uri="{FF2B5EF4-FFF2-40B4-BE49-F238E27FC236}">
                <a16:creationId xmlns:a16="http://schemas.microsoft.com/office/drawing/2014/main" id="{E25934DC-3884-510E-394A-EA0B289876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3" name="Google Shape;113;p5:notes">
            <a:extLst>
              <a:ext uri="{FF2B5EF4-FFF2-40B4-BE49-F238E27FC236}">
                <a16:creationId xmlns:a16="http://schemas.microsoft.com/office/drawing/2014/main" id="{9C5B1993-025B-B3EC-76AD-912F9570AD8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1718637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5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9" name="Google Shape;139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Placa de cierre: web y redes sociales.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En blanco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7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A2A2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2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rgbClr val="7373D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27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27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Google Shape;20;p27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8"/>
          <p:cNvSpPr txBox="1">
            <a:spLocks noGrp="1"/>
          </p:cNvSpPr>
          <p:nvPr>
            <p:ph type="title"/>
          </p:nvPr>
        </p:nvSpPr>
        <p:spPr>
          <a:xfrm>
            <a:off x="329525" y="286600"/>
            <a:ext cx="11574300" cy="8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000"/>
              <a:buFont typeface="Calibri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8"/>
          <p:cNvSpPr txBox="1">
            <a:spLocks noGrp="1"/>
          </p:cNvSpPr>
          <p:nvPr>
            <p:ph type="body" idx="1"/>
          </p:nvPr>
        </p:nvSpPr>
        <p:spPr>
          <a:xfrm>
            <a:off x="467833" y="1488557"/>
            <a:ext cx="11435992" cy="4625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9"/>
          <p:cNvSpPr txBox="1">
            <a:spLocks noGrp="1"/>
          </p:cNvSpPr>
          <p:nvPr>
            <p:ph type="title"/>
          </p:nvPr>
        </p:nvSpPr>
        <p:spPr>
          <a:xfrm>
            <a:off x="329525" y="286600"/>
            <a:ext cx="11574300" cy="8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9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" name="Google Shape;27;p29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" name="Google Shape;28;p29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iapositiva de título" type="title">
  <p:cSld name="TITLE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0"/>
          <p:cNvSpPr/>
          <p:nvPr/>
        </p:nvSpPr>
        <p:spPr>
          <a:xfrm>
            <a:off x="3185" y="6498393"/>
            <a:ext cx="12188700" cy="359700"/>
          </a:xfrm>
          <a:prstGeom prst="rect">
            <a:avLst/>
          </a:prstGeom>
          <a:solidFill>
            <a:srgbClr val="A2A2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30"/>
          <p:cNvSpPr/>
          <p:nvPr/>
        </p:nvSpPr>
        <p:spPr>
          <a:xfrm>
            <a:off x="25" y="6446100"/>
            <a:ext cx="12188700" cy="50400"/>
          </a:xfrm>
          <a:prstGeom prst="rect">
            <a:avLst/>
          </a:prstGeom>
          <a:solidFill>
            <a:srgbClr val="7373D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30"/>
          <p:cNvSpPr txBox="1"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>
                <a:solidFill>
                  <a:srgbClr val="26262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30"/>
          <p:cNvSpPr txBox="1"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cxnSp>
        <p:nvCxnSpPr>
          <p:cNvPr id="34" name="Google Shape;34;p30"/>
          <p:cNvCxnSpPr/>
          <p:nvPr/>
        </p:nvCxnSpPr>
        <p:spPr>
          <a:xfrm>
            <a:off x="1207658" y="4343400"/>
            <a:ext cx="987540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1"/>
          <p:cNvSpPr txBox="1">
            <a:spLocks noGrp="1"/>
          </p:cNvSpPr>
          <p:nvPr>
            <p:ph type="title"/>
          </p:nvPr>
        </p:nvSpPr>
        <p:spPr>
          <a:xfrm>
            <a:off x="329525" y="286600"/>
            <a:ext cx="11574300" cy="8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31"/>
          <p:cNvSpPr txBox="1">
            <a:spLocks noGrp="1"/>
          </p:cNvSpPr>
          <p:nvPr>
            <p:ph type="body" idx="1"/>
          </p:nvPr>
        </p:nvSpPr>
        <p:spPr>
          <a:xfrm>
            <a:off x="1097279" y="1845734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38" name="Google Shape;38;p31"/>
          <p:cNvSpPr txBox="1">
            <a:spLocks noGrp="1"/>
          </p:cNvSpPr>
          <p:nvPr>
            <p:ph type="body" idx="2"/>
          </p:nvPr>
        </p:nvSpPr>
        <p:spPr>
          <a:xfrm>
            <a:off x="6217920" y="1845735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39" name="Google Shape;39;p31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0" name="Google Shape;40;p31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1" name="Google Shape;41;p31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2"/>
          <p:cNvSpPr txBox="1">
            <a:spLocks noGrp="1"/>
          </p:cNvSpPr>
          <p:nvPr>
            <p:ph type="title"/>
          </p:nvPr>
        </p:nvSpPr>
        <p:spPr>
          <a:xfrm>
            <a:off x="329525" y="286600"/>
            <a:ext cx="11574300" cy="8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32"/>
          <p:cNvSpPr txBox="1"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 b="0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32"/>
          <p:cNvSpPr txBox="1">
            <a:spLocks noGrp="1"/>
          </p:cNvSpPr>
          <p:nvPr>
            <p:ph type="body" idx="2"/>
          </p:nvPr>
        </p:nvSpPr>
        <p:spPr>
          <a:xfrm>
            <a:off x="1097280" y="2582334"/>
            <a:ext cx="4937760" cy="33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46" name="Google Shape;46;p32"/>
          <p:cNvSpPr txBox="1">
            <a:spLocks noGrp="1"/>
          </p:cNvSpPr>
          <p:nvPr>
            <p:ph type="body" idx="3"/>
          </p:nvPr>
        </p:nvSpPr>
        <p:spPr>
          <a:xfrm>
            <a:off x="621792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 b="0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32"/>
          <p:cNvSpPr txBox="1">
            <a:spLocks noGrp="1"/>
          </p:cNvSpPr>
          <p:nvPr>
            <p:ph type="body" idx="4"/>
          </p:nvPr>
        </p:nvSpPr>
        <p:spPr>
          <a:xfrm>
            <a:off x="6217920" y="2582334"/>
            <a:ext cx="4937760" cy="33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3"/>
          <p:cNvSpPr txBox="1">
            <a:spLocks noGrp="1"/>
          </p:cNvSpPr>
          <p:nvPr>
            <p:ph type="title"/>
          </p:nvPr>
        </p:nvSpPr>
        <p:spPr>
          <a:xfrm>
            <a:off x="329525" y="286600"/>
            <a:ext cx="11574300" cy="8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33"/>
          <p:cNvSpPr txBox="1">
            <a:spLocks noGrp="1"/>
          </p:cNvSpPr>
          <p:nvPr>
            <p:ph type="body" idx="1"/>
          </p:nvPr>
        </p:nvSpPr>
        <p:spPr>
          <a:xfrm rot="5400000">
            <a:off x="4114800" y="-1171786"/>
            <a:ext cx="4023360" cy="100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51" name="Google Shape;51;p33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33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" name="Google Shape;53;p33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A2A2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26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rgbClr val="7373D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26"/>
          <p:cNvSpPr txBox="1">
            <a:spLocks noGrp="1"/>
          </p:cNvSpPr>
          <p:nvPr>
            <p:ph type="title"/>
          </p:nvPr>
        </p:nvSpPr>
        <p:spPr>
          <a:xfrm>
            <a:off x="308850" y="277637"/>
            <a:ext cx="11574300" cy="8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26"/>
          <p:cNvSpPr txBox="1">
            <a:spLocks noGrp="1"/>
          </p:cNvSpPr>
          <p:nvPr>
            <p:ph type="body" idx="1"/>
          </p:nvPr>
        </p:nvSpPr>
        <p:spPr>
          <a:xfrm>
            <a:off x="659219" y="1506659"/>
            <a:ext cx="11130811" cy="4480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cxnSp>
        <p:nvCxnSpPr>
          <p:cNvPr id="14" name="Google Shape;14;p26"/>
          <p:cNvCxnSpPr/>
          <p:nvPr/>
        </p:nvCxnSpPr>
        <p:spPr>
          <a:xfrm rot="10800000" flipH="1">
            <a:off x="462930" y="1294598"/>
            <a:ext cx="11327100" cy="4110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p20"/>
          <p:cNvPicPr preferRelativeResize="0"/>
          <p:nvPr/>
        </p:nvPicPr>
        <p:blipFill rotWithShape="1">
          <a:blip r:embed="rId3">
            <a:alphaModFix/>
          </a:blip>
          <a:srcRect t="27938" b="27937"/>
          <a:stretch/>
        </p:blipFill>
        <p:spPr>
          <a:xfrm>
            <a:off x="2980657" y="1943792"/>
            <a:ext cx="5925609" cy="1968091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323850" cy="6867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2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868150" y="0"/>
            <a:ext cx="323850" cy="6867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"/>
          <p:cNvSpPr txBox="1"/>
          <p:nvPr/>
        </p:nvSpPr>
        <p:spPr>
          <a:xfrm>
            <a:off x="0" y="0"/>
            <a:ext cx="12192000" cy="4581525"/>
          </a:xfrm>
          <a:prstGeom prst="rect">
            <a:avLst/>
          </a:prstGeom>
          <a:solidFill>
            <a:srgbClr val="71BEC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endParaRPr sz="5400" b="1" i="0" u="sng" strike="noStrike" cap="none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lang="es-ES" sz="5400" b="1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sz="5400" b="1" i="0" u="none" strike="noStrike" cap="none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lang="en-US" sz="5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lang="en-US" sz="5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Clase 1 - ¡Hola mundo!</a:t>
            </a:r>
            <a:endParaRPr sz="5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2"/>
          <p:cNvSpPr txBox="1"/>
          <p:nvPr/>
        </p:nvSpPr>
        <p:spPr>
          <a:xfrm>
            <a:off x="3596700" y="5076825"/>
            <a:ext cx="472230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rial"/>
              <a:buNone/>
            </a:pPr>
            <a:r>
              <a:rPr lang="en-US" sz="26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Octubre 2025</a:t>
            </a:r>
            <a:endParaRPr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600" b="0" i="0" u="none" strike="noStrike" cap="none" dirty="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0" name="Google Shape;70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323850" cy="6867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>
            <a:spLocks noGrp="1"/>
          </p:cNvSpPr>
          <p:nvPr>
            <p:ph type="title"/>
          </p:nvPr>
        </p:nvSpPr>
        <p:spPr>
          <a:xfrm>
            <a:off x="329525" y="286600"/>
            <a:ext cx="11574300" cy="8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/>
              <a:t>Contenido: </a:t>
            </a:r>
            <a:endParaRPr b="1"/>
          </a:p>
        </p:txBody>
      </p:sp>
      <p:sp>
        <p:nvSpPr>
          <p:cNvPr id="76" name="Google Shape;76;p21"/>
          <p:cNvSpPr txBox="1"/>
          <p:nvPr/>
        </p:nvSpPr>
        <p:spPr>
          <a:xfrm>
            <a:off x="580791" y="1288698"/>
            <a:ext cx="9009300" cy="64171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1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•"/>
            </a:pPr>
            <a:r>
              <a:rPr lang="en-US" sz="2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Hola mundo por consola y 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desde un IDE</a:t>
            </a:r>
          </a:p>
          <a:p>
            <a:pPr marL="285750" marR="0" lvl="1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•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Reglas básicas – Bloques </a:t>
            </a:r>
          </a:p>
          <a:p>
            <a:pPr marL="285750" marR="0" lvl="1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•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Tipos de datos – modificadores </a:t>
            </a:r>
          </a:p>
          <a:p>
            <a:pPr marL="285750" marR="0" lvl="1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•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Variables – Constantes</a:t>
            </a:r>
          </a:p>
          <a:p>
            <a:pPr marL="285750" marR="0" lvl="1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•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Operadores</a:t>
            </a:r>
          </a:p>
          <a:p>
            <a:pPr marL="285750" marR="0" lvl="1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•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printf – ingreso de datos por teclado </a:t>
            </a:r>
          </a:p>
          <a:p>
            <a:pPr marL="285750" marR="0" lvl="1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•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Estructuras condicionales: if / else – switch / case</a:t>
            </a:r>
          </a:p>
          <a:p>
            <a:pPr marL="285750" marR="0" lvl="1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•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Estructuras repetitivas: while / do-while / for</a:t>
            </a:r>
          </a:p>
          <a:p>
            <a:pPr marL="285750" marR="0" lvl="1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•"/>
            </a:pPr>
            <a:endParaRPr/>
          </a:p>
          <a:p>
            <a:pPr marL="285750" marR="0" lvl="1" indent="-1206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None/>
            </a:pP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1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7" name="Google Shape;77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323850" cy="6867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g218c986ea93_1_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323850" cy="6867526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g218c986ea93_1_16"/>
          <p:cNvSpPr txBox="1"/>
          <p:nvPr/>
        </p:nvSpPr>
        <p:spPr>
          <a:xfrm>
            <a:off x="509388" y="1517516"/>
            <a:ext cx="11511900" cy="22159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#include &lt;stdio.h&gt;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lang="en-US" sz="22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int main() {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printf(“Hola mundo\n”);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return 0;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2200" b="0" i="0" u="none" strike="noStrike" cap="none">
              <a:solidFill>
                <a:srgbClr val="FF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09" name="Google Shape;109;g218c986ea93_1_16"/>
          <p:cNvSpPr txBox="1">
            <a:spLocks noGrp="1"/>
          </p:cNvSpPr>
          <p:nvPr>
            <p:ph type="title"/>
          </p:nvPr>
        </p:nvSpPr>
        <p:spPr>
          <a:xfrm>
            <a:off x="357000" y="294173"/>
            <a:ext cx="11399631" cy="8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397"/>
              <a:buFont typeface="Arial"/>
              <a:buNone/>
            </a:pPr>
            <a:r>
              <a:rPr lang="en-US" sz="2720">
                <a:solidFill>
                  <a:schemeClr val="lt1"/>
                </a:solidFill>
                <a:latin typeface="Roboto Mono ExtraLight"/>
                <a:ea typeface="Roboto Mono ExtraLight"/>
                <a:cs typeface="Roboto Mono ExtraLight"/>
                <a:sym typeface="Roboto Mono ExtraLight"/>
              </a:rPr>
              <a:t>Bien, comencemos…</a:t>
            </a:r>
            <a:endParaRPr sz="2720">
              <a:solidFill>
                <a:schemeClr val="lt1"/>
              </a:solidFill>
              <a:latin typeface="Roboto Mono ExtraLight"/>
              <a:ea typeface="Roboto Mono ExtraLight"/>
              <a:cs typeface="Roboto Mono ExtraLight"/>
              <a:sym typeface="Roboto Mono ExtraLight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397"/>
              <a:buFont typeface="Arial"/>
              <a:buNone/>
            </a:pPr>
            <a:r>
              <a:rPr lang="en-US" sz="2720">
                <a:solidFill>
                  <a:schemeClr val="lt1"/>
                </a:solidFill>
                <a:latin typeface="Roboto Mono ExtraLight"/>
                <a:ea typeface="Roboto Mono ExtraLight"/>
                <a:cs typeface="Roboto Mono ExtraLight"/>
                <a:sym typeface="Roboto Mono ExtraLight"/>
              </a:rPr>
              <a:t>Bien, comencemos…</a:t>
            </a:r>
            <a:endParaRPr sz="2720">
              <a:solidFill>
                <a:schemeClr val="lt1"/>
              </a:solidFill>
              <a:latin typeface="Roboto Mono ExtraLight"/>
              <a:ea typeface="Roboto Mono ExtraLight"/>
              <a:cs typeface="Roboto Mono ExtraLight"/>
              <a:sym typeface="Roboto Mono ExtraLight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397"/>
              <a:buFont typeface="Arial"/>
              <a:buNone/>
            </a:pPr>
            <a:r>
              <a:rPr lang="en-US" sz="2720">
                <a:solidFill>
                  <a:schemeClr val="lt1"/>
                </a:solidFill>
                <a:latin typeface="Roboto Mono ExtraLight"/>
                <a:ea typeface="Roboto Mono ExtraLight"/>
                <a:cs typeface="Roboto Mono ExtraLight"/>
                <a:sym typeface="Roboto Mono ExtraLight"/>
              </a:rPr>
              <a:t>Bien, comencemos…</a:t>
            </a:r>
            <a:endParaRPr sz="2720">
              <a:solidFill>
                <a:schemeClr val="lt1"/>
              </a:solidFill>
              <a:latin typeface="Roboto Mono ExtraLight"/>
              <a:ea typeface="Roboto Mono ExtraLight"/>
              <a:cs typeface="Roboto Mono ExtraLight"/>
              <a:sym typeface="Roboto Mono ExtraLight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397"/>
              <a:buFont typeface="Arial"/>
              <a:buNone/>
            </a:pPr>
            <a:r>
              <a:rPr lang="en-US" sz="2720">
                <a:solidFill>
                  <a:schemeClr val="lt1"/>
                </a:solidFill>
                <a:latin typeface="Roboto Mono ExtraLight"/>
                <a:ea typeface="Roboto Mono ExtraLight"/>
                <a:cs typeface="Roboto Mono ExtraLight"/>
                <a:sym typeface="Roboto Mono ExtraLight"/>
              </a:rPr>
              <a:t>Bien, comencemos…</a:t>
            </a:r>
            <a:endParaRPr sz="2720">
              <a:solidFill>
                <a:schemeClr val="lt1"/>
              </a:solidFill>
              <a:latin typeface="Roboto Mono ExtraLight"/>
              <a:ea typeface="Roboto Mono ExtraLight"/>
              <a:cs typeface="Roboto Mono ExtraLight"/>
              <a:sym typeface="Roboto Mono ExtraLight"/>
            </a:endParaRPr>
          </a:p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20000"/>
              <a:buFont typeface="Calibri"/>
              <a:buNone/>
            </a:pPr>
            <a:r>
              <a:rPr lang="es-ES"/>
              <a:t>Hola mundo (código)</a:t>
            </a:r>
            <a:endParaRPr/>
          </a:p>
        </p:txBody>
      </p:sp>
      <p:sp>
        <p:nvSpPr>
          <p:cNvPr id="110" name="Google Shape;110;g218c986ea93_1_16"/>
          <p:cNvSpPr txBox="1"/>
          <p:nvPr/>
        </p:nvSpPr>
        <p:spPr>
          <a:xfrm>
            <a:off x="509388" y="4791844"/>
            <a:ext cx="11511900" cy="523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Se guarda en un archivo de extensión .c</a:t>
            </a:r>
            <a:endParaRPr sz="2200" b="0" i="0" u="none" strike="noStrike" cap="non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323850" cy="6867526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"/>
          <p:cNvSpPr txBox="1"/>
          <p:nvPr/>
        </p:nvSpPr>
        <p:spPr>
          <a:xfrm>
            <a:off x="357000" y="1562869"/>
            <a:ext cx="11511900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Compilación: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gcc nombre_de_archivo.c –o nombre_ejecutable</a:t>
            </a:r>
            <a:endParaRPr sz="2200" b="0" i="0" u="none" strike="noStrike" cap="none">
              <a:solidFill>
                <a:srgbClr val="FF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21" name="Google Shape;121;p1"/>
          <p:cNvSpPr txBox="1">
            <a:spLocks noGrp="1"/>
          </p:cNvSpPr>
          <p:nvPr>
            <p:ph type="title"/>
          </p:nvPr>
        </p:nvSpPr>
        <p:spPr>
          <a:xfrm>
            <a:off x="357000" y="294173"/>
            <a:ext cx="11399631" cy="8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397"/>
              <a:buFont typeface="Arial"/>
              <a:buNone/>
            </a:pPr>
            <a:r>
              <a:rPr lang="en-US" sz="2720">
                <a:solidFill>
                  <a:schemeClr val="lt1"/>
                </a:solidFill>
                <a:latin typeface="Roboto Mono ExtraLight"/>
                <a:ea typeface="Roboto Mono ExtraLight"/>
                <a:cs typeface="Roboto Mono ExtraLight"/>
                <a:sym typeface="Roboto Mono ExtraLight"/>
              </a:rPr>
              <a:t>Bien, comencemos…</a:t>
            </a:r>
            <a:endParaRPr sz="2720">
              <a:solidFill>
                <a:schemeClr val="lt1"/>
              </a:solidFill>
              <a:latin typeface="Roboto Mono ExtraLight"/>
              <a:ea typeface="Roboto Mono ExtraLight"/>
              <a:cs typeface="Roboto Mono ExtraLight"/>
              <a:sym typeface="Roboto Mono ExtraLight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397"/>
              <a:buFont typeface="Arial"/>
              <a:buNone/>
            </a:pPr>
            <a:r>
              <a:rPr lang="en-US" sz="2720">
                <a:solidFill>
                  <a:schemeClr val="lt1"/>
                </a:solidFill>
                <a:latin typeface="Roboto Mono ExtraLight"/>
                <a:ea typeface="Roboto Mono ExtraLight"/>
                <a:cs typeface="Roboto Mono ExtraLight"/>
                <a:sym typeface="Roboto Mono ExtraLight"/>
              </a:rPr>
              <a:t>Bien, comencemos…</a:t>
            </a:r>
            <a:endParaRPr sz="2720">
              <a:solidFill>
                <a:schemeClr val="lt1"/>
              </a:solidFill>
              <a:latin typeface="Roboto Mono ExtraLight"/>
              <a:ea typeface="Roboto Mono ExtraLight"/>
              <a:cs typeface="Roboto Mono ExtraLight"/>
              <a:sym typeface="Roboto Mono ExtraLight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397"/>
              <a:buFont typeface="Arial"/>
              <a:buNone/>
            </a:pPr>
            <a:r>
              <a:rPr lang="en-US" sz="2720">
                <a:solidFill>
                  <a:schemeClr val="lt1"/>
                </a:solidFill>
                <a:latin typeface="Roboto Mono ExtraLight"/>
                <a:ea typeface="Roboto Mono ExtraLight"/>
                <a:cs typeface="Roboto Mono ExtraLight"/>
                <a:sym typeface="Roboto Mono ExtraLight"/>
              </a:rPr>
              <a:t>Bien, comencemos…</a:t>
            </a:r>
            <a:endParaRPr sz="2720">
              <a:solidFill>
                <a:schemeClr val="lt1"/>
              </a:solidFill>
              <a:latin typeface="Roboto Mono ExtraLight"/>
              <a:ea typeface="Roboto Mono ExtraLight"/>
              <a:cs typeface="Roboto Mono ExtraLight"/>
              <a:sym typeface="Roboto Mono ExtraLight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397"/>
              <a:buFont typeface="Arial"/>
              <a:buNone/>
            </a:pPr>
            <a:r>
              <a:rPr lang="en-US" sz="2720">
                <a:solidFill>
                  <a:schemeClr val="lt1"/>
                </a:solidFill>
                <a:latin typeface="Roboto Mono ExtraLight"/>
                <a:ea typeface="Roboto Mono ExtraLight"/>
                <a:cs typeface="Roboto Mono ExtraLight"/>
                <a:sym typeface="Roboto Mono ExtraLight"/>
              </a:rPr>
              <a:t>Bien, comencemos…</a:t>
            </a:r>
            <a:endParaRPr sz="2720">
              <a:solidFill>
                <a:schemeClr val="lt1"/>
              </a:solidFill>
              <a:latin typeface="Roboto Mono ExtraLight"/>
              <a:ea typeface="Roboto Mono ExtraLight"/>
              <a:cs typeface="Roboto Mono ExtraLight"/>
              <a:sym typeface="Roboto Mono ExtraLight"/>
            </a:endParaRPr>
          </a:p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20000"/>
              <a:buFont typeface="Calibri"/>
              <a:buNone/>
            </a:pPr>
            <a:r>
              <a:rPr lang="en-US"/>
              <a:t>Consola</a:t>
            </a:r>
            <a:endParaRPr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7A5183F-2DC7-21AD-EAF8-4E621C1E20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172" y="2720577"/>
            <a:ext cx="10317015" cy="1152686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95BF1EEA-D014-EEDB-9D75-1718367A5C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172" y="5012935"/>
            <a:ext cx="8030696" cy="1038370"/>
          </a:xfrm>
          <a:prstGeom prst="rect">
            <a:avLst/>
          </a:prstGeom>
        </p:spPr>
      </p:pic>
      <p:sp>
        <p:nvSpPr>
          <p:cNvPr id="6" name="Google Shape;117;p1">
            <a:extLst>
              <a:ext uri="{FF2B5EF4-FFF2-40B4-BE49-F238E27FC236}">
                <a16:creationId xmlns:a16="http://schemas.microsoft.com/office/drawing/2014/main" id="{DC74C771-9154-AFFD-4462-D030A5FCBAA9}"/>
              </a:ext>
            </a:extLst>
          </p:cNvPr>
          <p:cNvSpPr txBox="1"/>
          <p:nvPr/>
        </p:nvSpPr>
        <p:spPr>
          <a:xfrm>
            <a:off x="394867" y="4012227"/>
            <a:ext cx="11511900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Ejecución: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./nombre_ejecutable</a:t>
            </a:r>
            <a:endParaRPr sz="2200" b="0" i="0" u="none" strike="noStrike" cap="none">
              <a:solidFill>
                <a:srgbClr val="FF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>
          <a:extLst>
            <a:ext uri="{FF2B5EF4-FFF2-40B4-BE49-F238E27FC236}">
              <a16:creationId xmlns:a16="http://schemas.microsoft.com/office/drawing/2014/main" id="{6779B5F5-87DF-871A-C3C7-0688CE9E67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">
            <a:extLst>
              <a:ext uri="{FF2B5EF4-FFF2-40B4-BE49-F238E27FC236}">
                <a16:creationId xmlns:a16="http://schemas.microsoft.com/office/drawing/2014/main" id="{F43ADCE7-5F86-789D-7403-7158657EB6D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323850" cy="6867526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">
            <a:extLst>
              <a:ext uri="{FF2B5EF4-FFF2-40B4-BE49-F238E27FC236}">
                <a16:creationId xmlns:a16="http://schemas.microsoft.com/office/drawing/2014/main" id="{9A56E4D0-FE15-0195-B8A7-8E8EC0A05B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7000" y="294173"/>
            <a:ext cx="11399631" cy="8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397"/>
              <a:buFont typeface="Arial"/>
              <a:buNone/>
            </a:pPr>
            <a:r>
              <a:rPr lang="en-US" sz="2720">
                <a:solidFill>
                  <a:schemeClr val="lt1"/>
                </a:solidFill>
                <a:latin typeface="Roboto Mono ExtraLight"/>
                <a:ea typeface="Roboto Mono ExtraLight"/>
                <a:cs typeface="Roboto Mono ExtraLight"/>
                <a:sym typeface="Roboto Mono ExtraLight"/>
              </a:rPr>
              <a:t>Bien, comencemos…</a:t>
            </a:r>
            <a:endParaRPr sz="2720">
              <a:solidFill>
                <a:schemeClr val="lt1"/>
              </a:solidFill>
              <a:latin typeface="Roboto Mono ExtraLight"/>
              <a:ea typeface="Roboto Mono ExtraLight"/>
              <a:cs typeface="Roboto Mono ExtraLight"/>
              <a:sym typeface="Roboto Mono ExtraLight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397"/>
              <a:buFont typeface="Arial"/>
              <a:buNone/>
            </a:pPr>
            <a:r>
              <a:rPr lang="en-US" sz="2720">
                <a:solidFill>
                  <a:schemeClr val="lt1"/>
                </a:solidFill>
                <a:latin typeface="Roboto Mono ExtraLight"/>
                <a:ea typeface="Roboto Mono ExtraLight"/>
                <a:cs typeface="Roboto Mono ExtraLight"/>
                <a:sym typeface="Roboto Mono ExtraLight"/>
              </a:rPr>
              <a:t>Bien, comencemos…</a:t>
            </a:r>
            <a:endParaRPr sz="2720">
              <a:solidFill>
                <a:schemeClr val="lt1"/>
              </a:solidFill>
              <a:latin typeface="Roboto Mono ExtraLight"/>
              <a:ea typeface="Roboto Mono ExtraLight"/>
              <a:cs typeface="Roboto Mono ExtraLight"/>
              <a:sym typeface="Roboto Mono ExtraLight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397"/>
              <a:buFont typeface="Arial"/>
              <a:buNone/>
            </a:pPr>
            <a:r>
              <a:rPr lang="en-US" sz="2720">
                <a:solidFill>
                  <a:schemeClr val="lt1"/>
                </a:solidFill>
                <a:latin typeface="Roboto Mono ExtraLight"/>
                <a:ea typeface="Roboto Mono ExtraLight"/>
                <a:cs typeface="Roboto Mono ExtraLight"/>
                <a:sym typeface="Roboto Mono ExtraLight"/>
              </a:rPr>
              <a:t>Bien, comencemos…</a:t>
            </a:r>
            <a:endParaRPr sz="2720">
              <a:solidFill>
                <a:schemeClr val="lt1"/>
              </a:solidFill>
              <a:latin typeface="Roboto Mono ExtraLight"/>
              <a:ea typeface="Roboto Mono ExtraLight"/>
              <a:cs typeface="Roboto Mono ExtraLight"/>
              <a:sym typeface="Roboto Mono ExtraLight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397"/>
              <a:buFont typeface="Arial"/>
              <a:buNone/>
            </a:pPr>
            <a:r>
              <a:rPr lang="en-US" sz="2720">
                <a:solidFill>
                  <a:schemeClr val="lt1"/>
                </a:solidFill>
                <a:latin typeface="Roboto Mono ExtraLight"/>
                <a:ea typeface="Roboto Mono ExtraLight"/>
                <a:cs typeface="Roboto Mono ExtraLight"/>
                <a:sym typeface="Roboto Mono ExtraLight"/>
              </a:rPr>
              <a:t>Bien, comencemos…</a:t>
            </a:r>
            <a:endParaRPr sz="2720">
              <a:solidFill>
                <a:schemeClr val="lt1"/>
              </a:solidFill>
              <a:latin typeface="Roboto Mono ExtraLight"/>
              <a:ea typeface="Roboto Mono ExtraLight"/>
              <a:cs typeface="Roboto Mono ExtraLight"/>
              <a:sym typeface="Roboto Mono ExtraLight"/>
            </a:endParaRPr>
          </a:p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20000"/>
              <a:buFont typeface="Calibri"/>
              <a:buNone/>
            </a:pPr>
            <a:r>
              <a:rPr lang="es-ES"/>
              <a:t>IDEs</a:t>
            </a:r>
            <a:endParaRPr/>
          </a:p>
        </p:txBody>
      </p:sp>
      <p:sp>
        <p:nvSpPr>
          <p:cNvPr id="6" name="Google Shape;117;p1">
            <a:extLst>
              <a:ext uri="{FF2B5EF4-FFF2-40B4-BE49-F238E27FC236}">
                <a16:creationId xmlns:a16="http://schemas.microsoft.com/office/drawing/2014/main" id="{50415EA5-6CD0-E92B-3306-D47EFBE499DB}"/>
              </a:ext>
            </a:extLst>
          </p:cNvPr>
          <p:cNvSpPr txBox="1"/>
          <p:nvPr/>
        </p:nvSpPr>
        <p:spPr>
          <a:xfrm>
            <a:off x="560709" y="1789218"/>
            <a:ext cx="11511900" cy="3908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 panose="020B0604020202020204" pitchFamily="34" charset="0"/>
              <a:buChar char="•"/>
            </a:pPr>
            <a:r>
              <a:rPr lang="es-ES" sz="2200">
                <a:solidFill>
                  <a:schemeClr val="tx1"/>
                </a:solidFill>
                <a:latin typeface="Roboto Mono"/>
                <a:ea typeface="Roboto Mono"/>
                <a:cs typeface="Roboto Mono"/>
                <a:sym typeface="Roboto Mono"/>
              </a:rPr>
              <a:t>Visual Studio</a:t>
            </a: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 panose="020B0604020202020204" pitchFamily="34" charset="0"/>
              <a:buChar char="•"/>
            </a:pPr>
            <a:r>
              <a:rPr lang="es-ES" sz="2200" b="0" i="0" u="none" strike="noStrike" cap="none">
                <a:solidFill>
                  <a:schemeClr val="tx1"/>
                </a:solidFill>
                <a:latin typeface="Roboto Mono"/>
                <a:ea typeface="Roboto Mono"/>
                <a:cs typeface="Roboto Mono"/>
                <a:sym typeface="Roboto Mono"/>
              </a:rPr>
              <a:t>Visual Studio Code</a:t>
            </a: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 panose="020B0604020202020204" pitchFamily="34" charset="0"/>
              <a:buChar char="•"/>
            </a:pPr>
            <a:r>
              <a:rPr lang="es-ES" sz="2200">
                <a:solidFill>
                  <a:schemeClr val="tx1"/>
                </a:solidFill>
                <a:latin typeface="Roboto Mono"/>
                <a:ea typeface="Roboto Mono"/>
                <a:cs typeface="Roboto Mono"/>
                <a:sym typeface="Roboto Mono"/>
              </a:rPr>
              <a:t>Eclipse</a:t>
            </a: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 panose="020B0604020202020204" pitchFamily="34" charset="0"/>
              <a:buChar char="•"/>
            </a:pPr>
            <a:r>
              <a:rPr lang="es-ES" sz="2200" b="0" i="0" u="none" strike="noStrike" cap="none">
                <a:solidFill>
                  <a:schemeClr val="tx1"/>
                </a:solidFill>
                <a:latin typeface="Roboto Mono"/>
                <a:ea typeface="Roboto Mono"/>
                <a:cs typeface="Roboto Mono"/>
                <a:sym typeface="Roboto Mono"/>
              </a:rPr>
              <a:t>CLion</a:t>
            </a: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 panose="020B0604020202020204" pitchFamily="34" charset="0"/>
              <a:buChar char="•"/>
            </a:pPr>
            <a:r>
              <a:rPr lang="es-ES" sz="2200">
                <a:solidFill>
                  <a:schemeClr val="tx1"/>
                </a:solidFill>
                <a:latin typeface="Roboto Mono"/>
                <a:ea typeface="Roboto Mono"/>
                <a:cs typeface="Roboto Mono"/>
                <a:sym typeface="Roboto Mono"/>
              </a:rPr>
              <a:t>CodeLite</a:t>
            </a: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 panose="020B0604020202020204" pitchFamily="34" charset="0"/>
              <a:buChar char="•"/>
            </a:pPr>
            <a:r>
              <a:rPr lang="es-ES" sz="2200" b="0" i="0" u="none" strike="noStrike" cap="none">
                <a:solidFill>
                  <a:schemeClr val="tx1"/>
                </a:solidFill>
                <a:latin typeface="Roboto Mono"/>
                <a:ea typeface="Roboto Mono"/>
                <a:cs typeface="Roboto Mono"/>
                <a:sym typeface="Roboto Mono"/>
              </a:rPr>
              <a:t>Builder</a:t>
            </a: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 panose="020B0604020202020204" pitchFamily="34" charset="0"/>
              <a:buChar char="•"/>
            </a:pPr>
            <a:r>
              <a:rPr lang="es-ES" sz="2200">
                <a:solidFill>
                  <a:schemeClr val="tx1"/>
                </a:solidFill>
                <a:latin typeface="Roboto Mono"/>
                <a:ea typeface="Roboto Mono"/>
                <a:cs typeface="Roboto Mono"/>
                <a:sym typeface="Roboto Mono"/>
              </a:rPr>
              <a:t>Kdevelop</a:t>
            </a: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 panose="020B0604020202020204" pitchFamily="34" charset="0"/>
              <a:buChar char="•"/>
            </a:pPr>
            <a:r>
              <a:rPr lang="es-ES" sz="2200" b="0" i="0" u="none" strike="noStrike" cap="none">
                <a:solidFill>
                  <a:schemeClr val="tx1"/>
                </a:solidFill>
                <a:latin typeface="Roboto Mono"/>
                <a:ea typeface="Roboto Mono"/>
                <a:cs typeface="Roboto Mono"/>
                <a:sym typeface="Roboto Mono"/>
              </a:rPr>
              <a:t>Cevelop</a:t>
            </a: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 panose="020B0604020202020204" pitchFamily="34" charset="0"/>
              <a:buChar char="•"/>
            </a:pPr>
            <a:r>
              <a:rPr lang="es-ES" sz="2200">
                <a:solidFill>
                  <a:schemeClr val="tx1"/>
                </a:solidFill>
                <a:latin typeface="Roboto Mono"/>
                <a:ea typeface="Roboto Mono"/>
                <a:cs typeface="Roboto Mono"/>
                <a:sym typeface="Roboto Mono"/>
              </a:rPr>
              <a:t>Dev C</a:t>
            </a: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 panose="020B0604020202020204" pitchFamily="34" charset="0"/>
              <a:buChar char="•"/>
            </a:pPr>
            <a:r>
              <a:rPr lang="es-ES" sz="2200">
                <a:solidFill>
                  <a:schemeClr val="tx1"/>
                </a:solidFill>
                <a:latin typeface="Roboto Mono"/>
                <a:ea typeface="Roboto Mono"/>
                <a:cs typeface="Roboto Mono"/>
                <a:sym typeface="Roboto Mono"/>
              </a:rPr>
              <a:t>Sublime</a:t>
            </a: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 panose="020B0604020202020204" pitchFamily="34" charset="0"/>
              <a:buChar char="•"/>
            </a:pPr>
            <a:r>
              <a:rPr lang="es-ES" sz="2200" b="0" i="0" u="none" strike="noStrike" cap="none">
                <a:solidFill>
                  <a:schemeClr val="tx1"/>
                </a:solidFill>
                <a:latin typeface="Roboto Mono"/>
                <a:ea typeface="Roboto Mono"/>
                <a:cs typeface="Roboto Mono"/>
                <a:sym typeface="Roboto Mono"/>
              </a:rPr>
              <a:t>Code::Blocks</a:t>
            </a:r>
            <a:endParaRPr sz="2200" b="0" i="0" u="none" strike="noStrike" cap="none">
              <a:solidFill>
                <a:schemeClr val="tx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  <p:extLst>
      <p:ext uri="{BB962C8B-B14F-4D97-AF65-F5344CB8AC3E}">
        <p14:creationId xmlns:p14="http://schemas.microsoft.com/office/powerpoint/2010/main" val="3371693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>
          <a:extLst>
            <a:ext uri="{FF2B5EF4-FFF2-40B4-BE49-F238E27FC236}">
              <a16:creationId xmlns:a16="http://schemas.microsoft.com/office/drawing/2014/main" id="{D076305A-1D9D-84A2-CB4C-C7BC981A9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">
            <a:extLst>
              <a:ext uri="{FF2B5EF4-FFF2-40B4-BE49-F238E27FC236}">
                <a16:creationId xmlns:a16="http://schemas.microsoft.com/office/drawing/2014/main" id="{6A3694FC-6729-8634-F3DE-E3E24ED1516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323850" cy="6867526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">
            <a:extLst>
              <a:ext uri="{FF2B5EF4-FFF2-40B4-BE49-F238E27FC236}">
                <a16:creationId xmlns:a16="http://schemas.microsoft.com/office/drawing/2014/main" id="{A077DD69-CFE5-7E31-0B61-255ADC83E3A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7000" y="294173"/>
            <a:ext cx="11399631" cy="8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397"/>
              <a:buFont typeface="Arial"/>
              <a:buNone/>
            </a:pPr>
            <a:r>
              <a:rPr lang="en-US" sz="2720">
                <a:solidFill>
                  <a:schemeClr val="lt1"/>
                </a:solidFill>
                <a:latin typeface="Roboto Mono ExtraLight"/>
                <a:ea typeface="Roboto Mono ExtraLight"/>
                <a:cs typeface="Roboto Mono ExtraLight"/>
                <a:sym typeface="Roboto Mono ExtraLight"/>
              </a:rPr>
              <a:t>Bien, comencemos…</a:t>
            </a:r>
            <a:endParaRPr sz="2720">
              <a:solidFill>
                <a:schemeClr val="lt1"/>
              </a:solidFill>
              <a:latin typeface="Roboto Mono ExtraLight"/>
              <a:ea typeface="Roboto Mono ExtraLight"/>
              <a:cs typeface="Roboto Mono ExtraLight"/>
              <a:sym typeface="Roboto Mono ExtraLight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397"/>
              <a:buFont typeface="Arial"/>
              <a:buNone/>
            </a:pPr>
            <a:r>
              <a:rPr lang="en-US" sz="2720">
                <a:solidFill>
                  <a:schemeClr val="lt1"/>
                </a:solidFill>
                <a:latin typeface="Roboto Mono ExtraLight"/>
                <a:ea typeface="Roboto Mono ExtraLight"/>
                <a:cs typeface="Roboto Mono ExtraLight"/>
                <a:sym typeface="Roboto Mono ExtraLight"/>
              </a:rPr>
              <a:t>Bien, comencemos…</a:t>
            </a:r>
            <a:endParaRPr sz="2720">
              <a:solidFill>
                <a:schemeClr val="lt1"/>
              </a:solidFill>
              <a:latin typeface="Roboto Mono ExtraLight"/>
              <a:ea typeface="Roboto Mono ExtraLight"/>
              <a:cs typeface="Roboto Mono ExtraLight"/>
              <a:sym typeface="Roboto Mono ExtraLight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397"/>
              <a:buFont typeface="Arial"/>
              <a:buNone/>
            </a:pPr>
            <a:r>
              <a:rPr lang="en-US" sz="2720">
                <a:solidFill>
                  <a:schemeClr val="lt1"/>
                </a:solidFill>
                <a:latin typeface="Roboto Mono ExtraLight"/>
                <a:ea typeface="Roboto Mono ExtraLight"/>
                <a:cs typeface="Roboto Mono ExtraLight"/>
                <a:sym typeface="Roboto Mono ExtraLight"/>
              </a:rPr>
              <a:t>Bien, comencemos…</a:t>
            </a:r>
            <a:endParaRPr sz="2720">
              <a:solidFill>
                <a:schemeClr val="lt1"/>
              </a:solidFill>
              <a:latin typeface="Roboto Mono ExtraLight"/>
              <a:ea typeface="Roboto Mono ExtraLight"/>
              <a:cs typeface="Roboto Mono ExtraLight"/>
              <a:sym typeface="Roboto Mono ExtraLight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397"/>
              <a:buFont typeface="Arial"/>
              <a:buNone/>
            </a:pPr>
            <a:r>
              <a:rPr lang="en-US" sz="2720">
                <a:solidFill>
                  <a:schemeClr val="lt1"/>
                </a:solidFill>
                <a:latin typeface="Roboto Mono ExtraLight"/>
                <a:ea typeface="Roboto Mono ExtraLight"/>
                <a:cs typeface="Roboto Mono ExtraLight"/>
                <a:sym typeface="Roboto Mono ExtraLight"/>
              </a:rPr>
              <a:t>Bien, comencemos…</a:t>
            </a:r>
            <a:endParaRPr sz="2720">
              <a:solidFill>
                <a:schemeClr val="lt1"/>
              </a:solidFill>
              <a:latin typeface="Roboto Mono ExtraLight"/>
              <a:ea typeface="Roboto Mono ExtraLight"/>
              <a:cs typeface="Roboto Mono ExtraLight"/>
              <a:sym typeface="Roboto Mono ExtraLight"/>
            </a:endParaRPr>
          </a:p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20000"/>
              <a:buFont typeface="Calibri"/>
              <a:buNone/>
            </a:pPr>
            <a:r>
              <a:rPr lang="es-ES"/>
              <a:t>Desde un IDE</a:t>
            </a:r>
            <a:endParaRPr/>
          </a:p>
        </p:txBody>
      </p:sp>
      <p:sp>
        <p:nvSpPr>
          <p:cNvPr id="6" name="Google Shape;117;p1">
            <a:extLst>
              <a:ext uri="{FF2B5EF4-FFF2-40B4-BE49-F238E27FC236}">
                <a16:creationId xmlns:a16="http://schemas.microsoft.com/office/drawing/2014/main" id="{FDDF67F7-F3AB-6805-2492-5B005FAF7D6A}"/>
              </a:ext>
            </a:extLst>
          </p:cNvPr>
          <p:cNvSpPr txBox="1"/>
          <p:nvPr/>
        </p:nvSpPr>
        <p:spPr>
          <a:xfrm>
            <a:off x="469269" y="5192818"/>
            <a:ext cx="11511900" cy="523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File -&gt; new -&gt; project</a:t>
            </a:r>
            <a:endParaRPr sz="2200" b="0" i="0" u="none" strike="noStrike" cap="none">
              <a:solidFill>
                <a:srgbClr val="FF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8C210AE-E799-5C8F-1BC0-AD5FC34FEB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714" y="1704470"/>
            <a:ext cx="10261258" cy="3449060"/>
          </a:xfrm>
          <a:prstGeom prst="rect">
            <a:avLst/>
          </a:prstGeom>
        </p:spPr>
      </p:pic>
      <p:sp>
        <p:nvSpPr>
          <p:cNvPr id="7" name="Elipse 6">
            <a:extLst>
              <a:ext uri="{FF2B5EF4-FFF2-40B4-BE49-F238E27FC236}">
                <a16:creationId xmlns:a16="http://schemas.microsoft.com/office/drawing/2014/main" id="{59292EA4-C51E-1C9C-0DE0-B25FB60584AF}"/>
              </a:ext>
            </a:extLst>
          </p:cNvPr>
          <p:cNvSpPr/>
          <p:nvPr/>
        </p:nvSpPr>
        <p:spPr>
          <a:xfrm>
            <a:off x="619760" y="1743758"/>
            <a:ext cx="3982720" cy="1070562"/>
          </a:xfrm>
          <a:prstGeom prst="ellipse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A69343C7-F571-47AC-F169-302C25C709B5}"/>
              </a:ext>
            </a:extLst>
          </p:cNvPr>
          <p:cNvSpPr/>
          <p:nvPr/>
        </p:nvSpPr>
        <p:spPr>
          <a:xfrm>
            <a:off x="5384800" y="3117091"/>
            <a:ext cx="2235200" cy="564297"/>
          </a:xfrm>
          <a:prstGeom prst="ellipse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80098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>
          <a:extLst>
            <a:ext uri="{FF2B5EF4-FFF2-40B4-BE49-F238E27FC236}">
              <a16:creationId xmlns:a16="http://schemas.microsoft.com/office/drawing/2014/main" id="{7EC20E10-A683-BA80-F624-DE7B50255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">
            <a:extLst>
              <a:ext uri="{FF2B5EF4-FFF2-40B4-BE49-F238E27FC236}">
                <a16:creationId xmlns:a16="http://schemas.microsoft.com/office/drawing/2014/main" id="{8FF2401B-608D-0AB2-FEE0-882D3AF7680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323850" cy="6867526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">
            <a:extLst>
              <a:ext uri="{FF2B5EF4-FFF2-40B4-BE49-F238E27FC236}">
                <a16:creationId xmlns:a16="http://schemas.microsoft.com/office/drawing/2014/main" id="{1AEFE9C0-F9CB-C85C-0791-3A8A8B8F691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7000" y="294173"/>
            <a:ext cx="11399631" cy="8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397"/>
              <a:buFont typeface="Arial"/>
              <a:buNone/>
            </a:pPr>
            <a:r>
              <a:rPr lang="en-US" sz="2720">
                <a:solidFill>
                  <a:schemeClr val="lt1"/>
                </a:solidFill>
                <a:latin typeface="Roboto Mono ExtraLight"/>
                <a:ea typeface="Roboto Mono ExtraLight"/>
                <a:cs typeface="Roboto Mono ExtraLight"/>
                <a:sym typeface="Roboto Mono ExtraLight"/>
              </a:rPr>
              <a:t>Bien, comencemos…</a:t>
            </a:r>
            <a:endParaRPr sz="2720">
              <a:solidFill>
                <a:schemeClr val="lt1"/>
              </a:solidFill>
              <a:latin typeface="Roboto Mono ExtraLight"/>
              <a:ea typeface="Roboto Mono ExtraLight"/>
              <a:cs typeface="Roboto Mono ExtraLight"/>
              <a:sym typeface="Roboto Mono ExtraLight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397"/>
              <a:buFont typeface="Arial"/>
              <a:buNone/>
            </a:pPr>
            <a:r>
              <a:rPr lang="en-US" sz="2720">
                <a:solidFill>
                  <a:schemeClr val="lt1"/>
                </a:solidFill>
                <a:latin typeface="Roboto Mono ExtraLight"/>
                <a:ea typeface="Roboto Mono ExtraLight"/>
                <a:cs typeface="Roboto Mono ExtraLight"/>
                <a:sym typeface="Roboto Mono ExtraLight"/>
              </a:rPr>
              <a:t>Bien, comencemos…</a:t>
            </a:r>
            <a:endParaRPr sz="2720">
              <a:solidFill>
                <a:schemeClr val="lt1"/>
              </a:solidFill>
              <a:latin typeface="Roboto Mono ExtraLight"/>
              <a:ea typeface="Roboto Mono ExtraLight"/>
              <a:cs typeface="Roboto Mono ExtraLight"/>
              <a:sym typeface="Roboto Mono ExtraLight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397"/>
              <a:buFont typeface="Arial"/>
              <a:buNone/>
            </a:pPr>
            <a:r>
              <a:rPr lang="en-US" sz="2720">
                <a:solidFill>
                  <a:schemeClr val="lt1"/>
                </a:solidFill>
                <a:latin typeface="Roboto Mono ExtraLight"/>
                <a:ea typeface="Roboto Mono ExtraLight"/>
                <a:cs typeface="Roboto Mono ExtraLight"/>
                <a:sym typeface="Roboto Mono ExtraLight"/>
              </a:rPr>
              <a:t>Bien, comencemos…</a:t>
            </a:r>
            <a:endParaRPr sz="2720">
              <a:solidFill>
                <a:schemeClr val="lt1"/>
              </a:solidFill>
              <a:latin typeface="Roboto Mono ExtraLight"/>
              <a:ea typeface="Roboto Mono ExtraLight"/>
              <a:cs typeface="Roboto Mono ExtraLight"/>
              <a:sym typeface="Roboto Mono ExtraLight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397"/>
              <a:buFont typeface="Arial"/>
              <a:buNone/>
            </a:pPr>
            <a:r>
              <a:rPr lang="en-US" sz="2720">
                <a:solidFill>
                  <a:schemeClr val="lt1"/>
                </a:solidFill>
                <a:latin typeface="Roboto Mono ExtraLight"/>
                <a:ea typeface="Roboto Mono ExtraLight"/>
                <a:cs typeface="Roboto Mono ExtraLight"/>
                <a:sym typeface="Roboto Mono ExtraLight"/>
              </a:rPr>
              <a:t>Bien, comencemos…</a:t>
            </a:r>
            <a:endParaRPr sz="2720">
              <a:solidFill>
                <a:schemeClr val="lt1"/>
              </a:solidFill>
              <a:latin typeface="Roboto Mono ExtraLight"/>
              <a:ea typeface="Roboto Mono ExtraLight"/>
              <a:cs typeface="Roboto Mono ExtraLight"/>
              <a:sym typeface="Roboto Mono ExtraLight"/>
            </a:endParaRPr>
          </a:p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20000"/>
              <a:buFont typeface="Calibri"/>
              <a:buNone/>
            </a:pPr>
            <a:r>
              <a:rPr lang="es-ES"/>
              <a:t>Desde un IDE</a:t>
            </a:r>
            <a:endParaRPr/>
          </a:p>
        </p:txBody>
      </p:sp>
      <p:sp>
        <p:nvSpPr>
          <p:cNvPr id="6" name="Google Shape;117;p1">
            <a:extLst>
              <a:ext uri="{FF2B5EF4-FFF2-40B4-BE49-F238E27FC236}">
                <a16:creationId xmlns:a16="http://schemas.microsoft.com/office/drawing/2014/main" id="{F37FB437-F21E-E74F-9AD7-BAD584F62826}"/>
              </a:ext>
            </a:extLst>
          </p:cNvPr>
          <p:cNvSpPr txBox="1"/>
          <p:nvPr/>
        </p:nvSpPr>
        <p:spPr>
          <a:xfrm>
            <a:off x="680100" y="5716008"/>
            <a:ext cx="11511900" cy="523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s-ES" sz="2200" b="0" i="0" u="none" strike="noStrike" cap="none">
                <a:solidFill>
                  <a:schemeClr val="tx1"/>
                </a:solidFill>
                <a:latin typeface="Roboto Mono"/>
                <a:ea typeface="Roboto Mono"/>
                <a:cs typeface="Roboto Mono"/>
                <a:sym typeface="Roboto Mono"/>
              </a:rPr>
              <a:t>Se elige console application</a:t>
            </a:r>
            <a:endParaRPr sz="2200" b="0" i="0" u="none" strike="noStrike" cap="none">
              <a:solidFill>
                <a:schemeClr val="tx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DADC9FE-3BBC-9DD0-6C71-845FE2F387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1300" y="1429704"/>
            <a:ext cx="6649399" cy="4370871"/>
          </a:xfrm>
          <a:prstGeom prst="rect">
            <a:avLst/>
          </a:prstGeom>
        </p:spPr>
      </p:pic>
      <p:sp>
        <p:nvSpPr>
          <p:cNvPr id="7" name="Elipse 6">
            <a:extLst>
              <a:ext uri="{FF2B5EF4-FFF2-40B4-BE49-F238E27FC236}">
                <a16:creationId xmlns:a16="http://schemas.microsoft.com/office/drawing/2014/main" id="{05629019-1D2B-6AEA-60AB-BA132B543DBE}"/>
              </a:ext>
            </a:extLst>
          </p:cNvPr>
          <p:cNvSpPr/>
          <p:nvPr/>
        </p:nvSpPr>
        <p:spPr>
          <a:xfrm>
            <a:off x="6554655" y="2143761"/>
            <a:ext cx="1908625" cy="1097280"/>
          </a:xfrm>
          <a:prstGeom prst="ellipse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81003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>
          <a:extLst>
            <a:ext uri="{FF2B5EF4-FFF2-40B4-BE49-F238E27FC236}">
              <a16:creationId xmlns:a16="http://schemas.microsoft.com/office/drawing/2014/main" id="{1D019B44-0D4B-3398-9537-004D9CE226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">
            <a:extLst>
              <a:ext uri="{FF2B5EF4-FFF2-40B4-BE49-F238E27FC236}">
                <a16:creationId xmlns:a16="http://schemas.microsoft.com/office/drawing/2014/main" id="{4C897A6C-4952-2981-AECD-191B347E178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323850" cy="6867526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">
            <a:extLst>
              <a:ext uri="{FF2B5EF4-FFF2-40B4-BE49-F238E27FC236}">
                <a16:creationId xmlns:a16="http://schemas.microsoft.com/office/drawing/2014/main" id="{12D51510-09F2-32EC-7648-01ACCE485AA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7000" y="294173"/>
            <a:ext cx="11399631" cy="8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397"/>
              <a:buFont typeface="Arial"/>
              <a:buNone/>
            </a:pPr>
            <a:r>
              <a:rPr lang="en-US" sz="2720">
                <a:solidFill>
                  <a:schemeClr val="lt1"/>
                </a:solidFill>
                <a:latin typeface="Roboto Mono ExtraLight"/>
                <a:ea typeface="Roboto Mono ExtraLight"/>
                <a:cs typeface="Roboto Mono ExtraLight"/>
                <a:sym typeface="Roboto Mono ExtraLight"/>
              </a:rPr>
              <a:t>Bien, comencemos…</a:t>
            </a:r>
            <a:endParaRPr sz="2720">
              <a:solidFill>
                <a:schemeClr val="lt1"/>
              </a:solidFill>
              <a:latin typeface="Roboto Mono ExtraLight"/>
              <a:ea typeface="Roboto Mono ExtraLight"/>
              <a:cs typeface="Roboto Mono ExtraLight"/>
              <a:sym typeface="Roboto Mono ExtraLight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397"/>
              <a:buFont typeface="Arial"/>
              <a:buNone/>
            </a:pPr>
            <a:r>
              <a:rPr lang="en-US" sz="2720">
                <a:solidFill>
                  <a:schemeClr val="lt1"/>
                </a:solidFill>
                <a:latin typeface="Roboto Mono ExtraLight"/>
                <a:ea typeface="Roboto Mono ExtraLight"/>
                <a:cs typeface="Roboto Mono ExtraLight"/>
                <a:sym typeface="Roboto Mono ExtraLight"/>
              </a:rPr>
              <a:t>Bien, comencemos…</a:t>
            </a:r>
            <a:endParaRPr sz="2720">
              <a:solidFill>
                <a:schemeClr val="lt1"/>
              </a:solidFill>
              <a:latin typeface="Roboto Mono ExtraLight"/>
              <a:ea typeface="Roboto Mono ExtraLight"/>
              <a:cs typeface="Roboto Mono ExtraLight"/>
              <a:sym typeface="Roboto Mono ExtraLight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397"/>
              <a:buFont typeface="Arial"/>
              <a:buNone/>
            </a:pPr>
            <a:r>
              <a:rPr lang="en-US" sz="2720">
                <a:solidFill>
                  <a:schemeClr val="lt1"/>
                </a:solidFill>
                <a:latin typeface="Roboto Mono ExtraLight"/>
                <a:ea typeface="Roboto Mono ExtraLight"/>
                <a:cs typeface="Roboto Mono ExtraLight"/>
                <a:sym typeface="Roboto Mono ExtraLight"/>
              </a:rPr>
              <a:t>Bien, comencemos…</a:t>
            </a:r>
            <a:endParaRPr sz="2720">
              <a:solidFill>
                <a:schemeClr val="lt1"/>
              </a:solidFill>
              <a:latin typeface="Roboto Mono ExtraLight"/>
              <a:ea typeface="Roboto Mono ExtraLight"/>
              <a:cs typeface="Roboto Mono ExtraLight"/>
              <a:sym typeface="Roboto Mono ExtraLight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397"/>
              <a:buFont typeface="Arial"/>
              <a:buNone/>
            </a:pPr>
            <a:r>
              <a:rPr lang="en-US" sz="2720">
                <a:solidFill>
                  <a:schemeClr val="lt1"/>
                </a:solidFill>
                <a:latin typeface="Roboto Mono ExtraLight"/>
                <a:ea typeface="Roboto Mono ExtraLight"/>
                <a:cs typeface="Roboto Mono ExtraLight"/>
                <a:sym typeface="Roboto Mono ExtraLight"/>
              </a:rPr>
              <a:t>Bien, comencemos…</a:t>
            </a:r>
            <a:endParaRPr sz="2720">
              <a:solidFill>
                <a:schemeClr val="lt1"/>
              </a:solidFill>
              <a:latin typeface="Roboto Mono ExtraLight"/>
              <a:ea typeface="Roboto Mono ExtraLight"/>
              <a:cs typeface="Roboto Mono ExtraLight"/>
              <a:sym typeface="Roboto Mono ExtraLight"/>
            </a:endParaRPr>
          </a:p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20000"/>
              <a:buFont typeface="Calibri"/>
              <a:buNone/>
            </a:pPr>
            <a:r>
              <a:rPr lang="es-ES"/>
              <a:t>Desde un IDE</a:t>
            </a:r>
            <a:endParaRPr/>
          </a:p>
        </p:txBody>
      </p:sp>
      <p:sp>
        <p:nvSpPr>
          <p:cNvPr id="6" name="Google Shape;117;p1">
            <a:extLst>
              <a:ext uri="{FF2B5EF4-FFF2-40B4-BE49-F238E27FC236}">
                <a16:creationId xmlns:a16="http://schemas.microsoft.com/office/drawing/2014/main" id="{29DD16F1-45E6-C908-0FB3-A20B1247A77F}"/>
              </a:ext>
            </a:extLst>
          </p:cNvPr>
          <p:cNvSpPr txBox="1"/>
          <p:nvPr/>
        </p:nvSpPr>
        <p:spPr>
          <a:xfrm>
            <a:off x="680100" y="5716008"/>
            <a:ext cx="11511900" cy="523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s-ES" sz="2200" b="0" i="0" u="none" strike="noStrike" cap="none">
                <a:solidFill>
                  <a:schemeClr val="tx1"/>
                </a:solidFill>
                <a:latin typeface="Roboto Mono"/>
                <a:ea typeface="Roboto Mono"/>
                <a:cs typeface="Roboto Mono"/>
                <a:sym typeface="Roboto Mono"/>
              </a:rPr>
              <a:t>Se elige C -&gt; next</a:t>
            </a:r>
            <a:endParaRPr sz="2200" b="0" i="0" u="none" strike="noStrike" cap="none">
              <a:solidFill>
                <a:schemeClr val="tx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6FF81F1-C3F2-764B-65A7-C113A2A270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1610" y="481913"/>
            <a:ext cx="5008880" cy="5091535"/>
          </a:xfrm>
          <a:prstGeom prst="rect">
            <a:avLst/>
          </a:prstGeom>
        </p:spPr>
      </p:pic>
      <p:sp>
        <p:nvSpPr>
          <p:cNvPr id="7" name="Elipse 6">
            <a:extLst>
              <a:ext uri="{FF2B5EF4-FFF2-40B4-BE49-F238E27FC236}">
                <a16:creationId xmlns:a16="http://schemas.microsoft.com/office/drawing/2014/main" id="{761888B0-30A0-5C20-C117-5C222783152B}"/>
              </a:ext>
            </a:extLst>
          </p:cNvPr>
          <p:cNvSpPr/>
          <p:nvPr/>
        </p:nvSpPr>
        <p:spPr>
          <a:xfrm>
            <a:off x="5141687" y="1046481"/>
            <a:ext cx="1908625" cy="1097280"/>
          </a:xfrm>
          <a:prstGeom prst="ellipse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09797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>
          <a:extLst>
            <a:ext uri="{FF2B5EF4-FFF2-40B4-BE49-F238E27FC236}">
              <a16:creationId xmlns:a16="http://schemas.microsoft.com/office/drawing/2014/main" id="{43B20F8C-8063-D1E6-9AC4-0157C1B74B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">
            <a:extLst>
              <a:ext uri="{FF2B5EF4-FFF2-40B4-BE49-F238E27FC236}">
                <a16:creationId xmlns:a16="http://schemas.microsoft.com/office/drawing/2014/main" id="{2D75AE29-0BD6-C105-F6AD-9074EA08625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323850" cy="6867526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">
            <a:extLst>
              <a:ext uri="{FF2B5EF4-FFF2-40B4-BE49-F238E27FC236}">
                <a16:creationId xmlns:a16="http://schemas.microsoft.com/office/drawing/2014/main" id="{24B2A4C7-399C-9AB7-8246-A01223F0103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7000" y="294173"/>
            <a:ext cx="11399631" cy="8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397"/>
              <a:buFont typeface="Arial"/>
              <a:buNone/>
            </a:pPr>
            <a:r>
              <a:rPr lang="en-US" sz="2720">
                <a:solidFill>
                  <a:schemeClr val="lt1"/>
                </a:solidFill>
                <a:latin typeface="Roboto Mono ExtraLight"/>
                <a:ea typeface="Roboto Mono ExtraLight"/>
                <a:cs typeface="Roboto Mono ExtraLight"/>
                <a:sym typeface="Roboto Mono ExtraLight"/>
              </a:rPr>
              <a:t>Bien, comencemos…</a:t>
            </a:r>
            <a:endParaRPr sz="2720">
              <a:solidFill>
                <a:schemeClr val="lt1"/>
              </a:solidFill>
              <a:latin typeface="Roboto Mono ExtraLight"/>
              <a:ea typeface="Roboto Mono ExtraLight"/>
              <a:cs typeface="Roboto Mono ExtraLight"/>
              <a:sym typeface="Roboto Mono ExtraLight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397"/>
              <a:buFont typeface="Arial"/>
              <a:buNone/>
            </a:pPr>
            <a:r>
              <a:rPr lang="en-US" sz="2720">
                <a:solidFill>
                  <a:schemeClr val="lt1"/>
                </a:solidFill>
                <a:latin typeface="Roboto Mono ExtraLight"/>
                <a:ea typeface="Roboto Mono ExtraLight"/>
                <a:cs typeface="Roboto Mono ExtraLight"/>
                <a:sym typeface="Roboto Mono ExtraLight"/>
              </a:rPr>
              <a:t>Bien, comencemos…</a:t>
            </a:r>
            <a:endParaRPr sz="2720">
              <a:solidFill>
                <a:schemeClr val="lt1"/>
              </a:solidFill>
              <a:latin typeface="Roboto Mono ExtraLight"/>
              <a:ea typeface="Roboto Mono ExtraLight"/>
              <a:cs typeface="Roboto Mono ExtraLight"/>
              <a:sym typeface="Roboto Mono ExtraLight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397"/>
              <a:buFont typeface="Arial"/>
              <a:buNone/>
            </a:pPr>
            <a:r>
              <a:rPr lang="en-US" sz="2720">
                <a:solidFill>
                  <a:schemeClr val="lt1"/>
                </a:solidFill>
                <a:latin typeface="Roboto Mono ExtraLight"/>
                <a:ea typeface="Roboto Mono ExtraLight"/>
                <a:cs typeface="Roboto Mono ExtraLight"/>
                <a:sym typeface="Roboto Mono ExtraLight"/>
              </a:rPr>
              <a:t>Bien, comencemos…</a:t>
            </a:r>
            <a:endParaRPr sz="2720">
              <a:solidFill>
                <a:schemeClr val="lt1"/>
              </a:solidFill>
              <a:latin typeface="Roboto Mono ExtraLight"/>
              <a:ea typeface="Roboto Mono ExtraLight"/>
              <a:cs typeface="Roboto Mono ExtraLight"/>
              <a:sym typeface="Roboto Mono ExtraLight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397"/>
              <a:buFont typeface="Arial"/>
              <a:buNone/>
            </a:pPr>
            <a:r>
              <a:rPr lang="en-US" sz="2720">
                <a:solidFill>
                  <a:schemeClr val="lt1"/>
                </a:solidFill>
                <a:latin typeface="Roboto Mono ExtraLight"/>
                <a:ea typeface="Roboto Mono ExtraLight"/>
                <a:cs typeface="Roboto Mono ExtraLight"/>
                <a:sym typeface="Roboto Mono ExtraLight"/>
              </a:rPr>
              <a:t>Bien, comencemos…</a:t>
            </a:r>
            <a:endParaRPr sz="2720">
              <a:solidFill>
                <a:schemeClr val="lt1"/>
              </a:solidFill>
              <a:latin typeface="Roboto Mono ExtraLight"/>
              <a:ea typeface="Roboto Mono ExtraLight"/>
              <a:cs typeface="Roboto Mono ExtraLight"/>
              <a:sym typeface="Roboto Mono ExtraLight"/>
            </a:endParaRPr>
          </a:p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20000"/>
              <a:buFont typeface="Calibri"/>
              <a:buNone/>
            </a:pPr>
            <a:r>
              <a:rPr lang="es-ES"/>
              <a:t>Desde un IDE</a:t>
            </a:r>
            <a:endParaRPr/>
          </a:p>
        </p:txBody>
      </p:sp>
      <p:sp>
        <p:nvSpPr>
          <p:cNvPr id="6" name="Google Shape;117;p1">
            <a:extLst>
              <a:ext uri="{FF2B5EF4-FFF2-40B4-BE49-F238E27FC236}">
                <a16:creationId xmlns:a16="http://schemas.microsoft.com/office/drawing/2014/main" id="{8FBC02FD-AA06-A19F-F79A-4F0EBEEA0C9D}"/>
              </a:ext>
            </a:extLst>
          </p:cNvPr>
          <p:cNvSpPr txBox="1"/>
          <p:nvPr/>
        </p:nvSpPr>
        <p:spPr>
          <a:xfrm>
            <a:off x="680100" y="5701320"/>
            <a:ext cx="11511900" cy="523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s-ES" sz="2200" b="0" i="0" u="none" strike="noStrike" cap="none">
                <a:solidFill>
                  <a:schemeClr val="tx1"/>
                </a:solidFill>
                <a:latin typeface="Roboto Mono"/>
                <a:ea typeface="Roboto Mono"/>
                <a:cs typeface="Roboto Mono"/>
                <a:sym typeface="Roboto Mono"/>
              </a:rPr>
              <a:t>Se coloca el nombre del proyecto -&gt; next</a:t>
            </a:r>
            <a:endParaRPr sz="2200" b="0" i="0" u="none" strike="noStrike" cap="none">
              <a:solidFill>
                <a:schemeClr val="tx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80AD38C-65B3-C799-7B6C-26A2CB251A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9829" y="227220"/>
            <a:ext cx="5487451" cy="5407147"/>
          </a:xfrm>
          <a:prstGeom prst="rect">
            <a:avLst/>
          </a:prstGeom>
        </p:spPr>
      </p:pic>
      <p:sp>
        <p:nvSpPr>
          <p:cNvPr id="7" name="Elipse 6">
            <a:extLst>
              <a:ext uri="{FF2B5EF4-FFF2-40B4-BE49-F238E27FC236}">
                <a16:creationId xmlns:a16="http://schemas.microsoft.com/office/drawing/2014/main" id="{DB758488-A0D5-D8B1-3026-AE2158123E2A}"/>
              </a:ext>
            </a:extLst>
          </p:cNvPr>
          <p:cNvSpPr/>
          <p:nvPr/>
        </p:nvSpPr>
        <p:spPr>
          <a:xfrm>
            <a:off x="4420327" y="965201"/>
            <a:ext cx="1908625" cy="1097280"/>
          </a:xfrm>
          <a:prstGeom prst="ellipse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481218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>
          <a:extLst>
            <a:ext uri="{FF2B5EF4-FFF2-40B4-BE49-F238E27FC236}">
              <a16:creationId xmlns:a16="http://schemas.microsoft.com/office/drawing/2014/main" id="{F6FB780B-6B0D-E82B-82F8-157821D4A8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">
            <a:extLst>
              <a:ext uri="{FF2B5EF4-FFF2-40B4-BE49-F238E27FC236}">
                <a16:creationId xmlns:a16="http://schemas.microsoft.com/office/drawing/2014/main" id="{DC015310-BF2C-AE76-A9AB-D6F4F5E04B7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323850" cy="6867526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">
            <a:extLst>
              <a:ext uri="{FF2B5EF4-FFF2-40B4-BE49-F238E27FC236}">
                <a16:creationId xmlns:a16="http://schemas.microsoft.com/office/drawing/2014/main" id="{1E684ECC-7E36-88B4-1C54-0E14232F4D9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7000" y="294173"/>
            <a:ext cx="11399631" cy="8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397"/>
              <a:buFont typeface="Arial"/>
              <a:buNone/>
            </a:pPr>
            <a:r>
              <a:rPr lang="en-US" sz="2720">
                <a:solidFill>
                  <a:schemeClr val="lt1"/>
                </a:solidFill>
                <a:latin typeface="Roboto Mono ExtraLight"/>
                <a:ea typeface="Roboto Mono ExtraLight"/>
                <a:cs typeface="Roboto Mono ExtraLight"/>
                <a:sym typeface="Roboto Mono ExtraLight"/>
              </a:rPr>
              <a:t>Bien, comencemos…</a:t>
            </a:r>
            <a:endParaRPr sz="2720">
              <a:solidFill>
                <a:schemeClr val="lt1"/>
              </a:solidFill>
              <a:latin typeface="Roboto Mono ExtraLight"/>
              <a:ea typeface="Roboto Mono ExtraLight"/>
              <a:cs typeface="Roboto Mono ExtraLight"/>
              <a:sym typeface="Roboto Mono ExtraLight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397"/>
              <a:buFont typeface="Arial"/>
              <a:buNone/>
            </a:pPr>
            <a:r>
              <a:rPr lang="en-US" sz="2720">
                <a:solidFill>
                  <a:schemeClr val="lt1"/>
                </a:solidFill>
                <a:latin typeface="Roboto Mono ExtraLight"/>
                <a:ea typeface="Roboto Mono ExtraLight"/>
                <a:cs typeface="Roboto Mono ExtraLight"/>
                <a:sym typeface="Roboto Mono ExtraLight"/>
              </a:rPr>
              <a:t>Bien, comencemos…</a:t>
            </a:r>
            <a:endParaRPr sz="2720">
              <a:solidFill>
                <a:schemeClr val="lt1"/>
              </a:solidFill>
              <a:latin typeface="Roboto Mono ExtraLight"/>
              <a:ea typeface="Roboto Mono ExtraLight"/>
              <a:cs typeface="Roboto Mono ExtraLight"/>
              <a:sym typeface="Roboto Mono ExtraLight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397"/>
              <a:buFont typeface="Arial"/>
              <a:buNone/>
            </a:pPr>
            <a:r>
              <a:rPr lang="en-US" sz="2720">
                <a:solidFill>
                  <a:schemeClr val="lt1"/>
                </a:solidFill>
                <a:latin typeface="Roboto Mono ExtraLight"/>
                <a:ea typeface="Roboto Mono ExtraLight"/>
                <a:cs typeface="Roboto Mono ExtraLight"/>
                <a:sym typeface="Roboto Mono ExtraLight"/>
              </a:rPr>
              <a:t>Bien, comencemos…</a:t>
            </a:r>
            <a:endParaRPr sz="2720">
              <a:solidFill>
                <a:schemeClr val="lt1"/>
              </a:solidFill>
              <a:latin typeface="Roboto Mono ExtraLight"/>
              <a:ea typeface="Roboto Mono ExtraLight"/>
              <a:cs typeface="Roboto Mono ExtraLight"/>
              <a:sym typeface="Roboto Mono ExtraLight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397"/>
              <a:buFont typeface="Arial"/>
              <a:buNone/>
            </a:pPr>
            <a:r>
              <a:rPr lang="en-US" sz="2720">
                <a:solidFill>
                  <a:schemeClr val="lt1"/>
                </a:solidFill>
                <a:latin typeface="Roboto Mono ExtraLight"/>
                <a:ea typeface="Roboto Mono ExtraLight"/>
                <a:cs typeface="Roboto Mono ExtraLight"/>
                <a:sym typeface="Roboto Mono ExtraLight"/>
              </a:rPr>
              <a:t>Bien, comencemos…</a:t>
            </a:r>
            <a:endParaRPr sz="2720">
              <a:solidFill>
                <a:schemeClr val="lt1"/>
              </a:solidFill>
              <a:latin typeface="Roboto Mono ExtraLight"/>
              <a:ea typeface="Roboto Mono ExtraLight"/>
              <a:cs typeface="Roboto Mono ExtraLight"/>
              <a:sym typeface="Roboto Mono ExtraLight"/>
            </a:endParaRPr>
          </a:p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20000"/>
              <a:buFont typeface="Calibri"/>
              <a:buNone/>
            </a:pPr>
            <a:r>
              <a:rPr lang="es-ES"/>
              <a:t>Desde un IDE</a:t>
            </a:r>
            <a:endParaRPr/>
          </a:p>
        </p:txBody>
      </p:sp>
      <p:sp>
        <p:nvSpPr>
          <p:cNvPr id="6" name="Google Shape;117;p1">
            <a:extLst>
              <a:ext uri="{FF2B5EF4-FFF2-40B4-BE49-F238E27FC236}">
                <a16:creationId xmlns:a16="http://schemas.microsoft.com/office/drawing/2014/main" id="{20C907B6-4744-AAB3-B3A2-84CD531C0AE5}"/>
              </a:ext>
            </a:extLst>
          </p:cNvPr>
          <p:cNvSpPr txBox="1"/>
          <p:nvPr/>
        </p:nvSpPr>
        <p:spPr>
          <a:xfrm>
            <a:off x="608980" y="4980965"/>
            <a:ext cx="11511900" cy="1200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s-ES" sz="2200">
                <a:solidFill>
                  <a:schemeClr val="tx1"/>
                </a:solidFill>
                <a:latin typeface="Roboto Mono"/>
                <a:ea typeface="Roboto Mono"/>
                <a:cs typeface="Roboto Mono"/>
                <a:sym typeface="Roboto Mono"/>
              </a:rPr>
              <a:t>Ya creado el proyecto, haciendo doble click en main.c, se abre la ventana para escribir el código.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s-ES" sz="2200" b="0" i="0" u="none" strike="noStrike" cap="none">
                <a:solidFill>
                  <a:schemeClr val="tx1"/>
                </a:solidFill>
                <a:latin typeface="Roboto Mono"/>
                <a:ea typeface="Roboto Mono"/>
                <a:cs typeface="Roboto Mono"/>
                <a:sym typeface="Roboto Mono"/>
              </a:rPr>
              <a:t>Muchos IDEs generan un “Hola mundo” por defecto.</a:t>
            </a:r>
            <a:endParaRPr sz="2200" b="0" i="0" u="none" strike="noStrike" cap="none">
              <a:solidFill>
                <a:schemeClr val="tx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DD20A29-EBE7-1FEC-DA80-D8E50C9592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7784" y="1364995"/>
            <a:ext cx="8502724" cy="3210436"/>
          </a:xfrm>
          <a:prstGeom prst="rect">
            <a:avLst/>
          </a:prstGeom>
        </p:spPr>
      </p:pic>
      <p:sp>
        <p:nvSpPr>
          <p:cNvPr id="7" name="Elipse 6">
            <a:extLst>
              <a:ext uri="{FF2B5EF4-FFF2-40B4-BE49-F238E27FC236}">
                <a16:creationId xmlns:a16="http://schemas.microsoft.com/office/drawing/2014/main" id="{36C8CE1D-A6E5-BD77-FB8B-379BC6E0C8D4}"/>
              </a:ext>
            </a:extLst>
          </p:cNvPr>
          <p:cNvSpPr/>
          <p:nvPr/>
        </p:nvSpPr>
        <p:spPr>
          <a:xfrm>
            <a:off x="1556504" y="1929635"/>
            <a:ext cx="2121416" cy="1293494"/>
          </a:xfrm>
          <a:prstGeom prst="ellipse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89320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>
          <a:extLst>
            <a:ext uri="{FF2B5EF4-FFF2-40B4-BE49-F238E27FC236}">
              <a16:creationId xmlns:a16="http://schemas.microsoft.com/office/drawing/2014/main" id="{4CF8293E-67C5-67CE-B48F-F4337BC42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">
            <a:extLst>
              <a:ext uri="{FF2B5EF4-FFF2-40B4-BE49-F238E27FC236}">
                <a16:creationId xmlns:a16="http://schemas.microsoft.com/office/drawing/2014/main" id="{C5AF1349-6DCA-6286-B73B-BCD11BDF96D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323850" cy="6867526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">
            <a:extLst>
              <a:ext uri="{FF2B5EF4-FFF2-40B4-BE49-F238E27FC236}">
                <a16:creationId xmlns:a16="http://schemas.microsoft.com/office/drawing/2014/main" id="{6039A1E5-7596-0FA3-AEFC-7E020C1E177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7000" y="294173"/>
            <a:ext cx="11399631" cy="8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397"/>
              <a:buFont typeface="Arial"/>
              <a:buNone/>
            </a:pPr>
            <a:r>
              <a:rPr lang="en-US" sz="2720">
                <a:solidFill>
                  <a:schemeClr val="lt1"/>
                </a:solidFill>
                <a:latin typeface="Roboto Mono ExtraLight"/>
                <a:ea typeface="Roboto Mono ExtraLight"/>
                <a:cs typeface="Roboto Mono ExtraLight"/>
                <a:sym typeface="Roboto Mono ExtraLight"/>
              </a:rPr>
              <a:t>Bien, comencemos…</a:t>
            </a:r>
            <a:endParaRPr sz="2720">
              <a:solidFill>
                <a:schemeClr val="lt1"/>
              </a:solidFill>
              <a:latin typeface="Roboto Mono ExtraLight"/>
              <a:ea typeface="Roboto Mono ExtraLight"/>
              <a:cs typeface="Roboto Mono ExtraLight"/>
              <a:sym typeface="Roboto Mono ExtraLight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397"/>
              <a:buFont typeface="Arial"/>
              <a:buNone/>
            </a:pPr>
            <a:r>
              <a:rPr lang="en-US" sz="2720">
                <a:solidFill>
                  <a:schemeClr val="lt1"/>
                </a:solidFill>
                <a:latin typeface="Roboto Mono ExtraLight"/>
                <a:ea typeface="Roboto Mono ExtraLight"/>
                <a:cs typeface="Roboto Mono ExtraLight"/>
                <a:sym typeface="Roboto Mono ExtraLight"/>
              </a:rPr>
              <a:t>Bien, comencemos…</a:t>
            </a:r>
            <a:endParaRPr sz="2720">
              <a:solidFill>
                <a:schemeClr val="lt1"/>
              </a:solidFill>
              <a:latin typeface="Roboto Mono ExtraLight"/>
              <a:ea typeface="Roboto Mono ExtraLight"/>
              <a:cs typeface="Roboto Mono ExtraLight"/>
              <a:sym typeface="Roboto Mono ExtraLight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397"/>
              <a:buFont typeface="Arial"/>
              <a:buNone/>
            </a:pPr>
            <a:r>
              <a:rPr lang="en-US" sz="2720">
                <a:solidFill>
                  <a:schemeClr val="lt1"/>
                </a:solidFill>
                <a:latin typeface="Roboto Mono ExtraLight"/>
                <a:ea typeface="Roboto Mono ExtraLight"/>
                <a:cs typeface="Roboto Mono ExtraLight"/>
                <a:sym typeface="Roboto Mono ExtraLight"/>
              </a:rPr>
              <a:t>Bien, comencemos…</a:t>
            </a:r>
            <a:endParaRPr sz="2720">
              <a:solidFill>
                <a:schemeClr val="lt1"/>
              </a:solidFill>
              <a:latin typeface="Roboto Mono ExtraLight"/>
              <a:ea typeface="Roboto Mono ExtraLight"/>
              <a:cs typeface="Roboto Mono ExtraLight"/>
              <a:sym typeface="Roboto Mono ExtraLight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397"/>
              <a:buFont typeface="Arial"/>
              <a:buNone/>
            </a:pPr>
            <a:r>
              <a:rPr lang="en-US" sz="2720">
                <a:solidFill>
                  <a:schemeClr val="lt1"/>
                </a:solidFill>
                <a:latin typeface="Roboto Mono ExtraLight"/>
                <a:ea typeface="Roboto Mono ExtraLight"/>
                <a:cs typeface="Roboto Mono ExtraLight"/>
                <a:sym typeface="Roboto Mono ExtraLight"/>
              </a:rPr>
              <a:t>Bien, comencemos…</a:t>
            </a:r>
            <a:endParaRPr sz="2720">
              <a:solidFill>
                <a:schemeClr val="lt1"/>
              </a:solidFill>
              <a:latin typeface="Roboto Mono ExtraLight"/>
              <a:ea typeface="Roboto Mono ExtraLight"/>
              <a:cs typeface="Roboto Mono ExtraLight"/>
              <a:sym typeface="Roboto Mono ExtraLight"/>
            </a:endParaRPr>
          </a:p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20000"/>
              <a:buFont typeface="Calibri"/>
              <a:buNone/>
            </a:pPr>
            <a:r>
              <a:rPr lang="es-ES"/>
              <a:t>Desde un IDE</a:t>
            </a:r>
            <a:endParaRPr/>
          </a:p>
        </p:txBody>
      </p:sp>
      <p:sp>
        <p:nvSpPr>
          <p:cNvPr id="6" name="Google Shape;117;p1">
            <a:extLst>
              <a:ext uri="{FF2B5EF4-FFF2-40B4-BE49-F238E27FC236}">
                <a16:creationId xmlns:a16="http://schemas.microsoft.com/office/drawing/2014/main" id="{B8AAD252-8C47-85F7-6231-BBDF2881C81A}"/>
              </a:ext>
            </a:extLst>
          </p:cNvPr>
          <p:cNvSpPr txBox="1"/>
          <p:nvPr/>
        </p:nvSpPr>
        <p:spPr>
          <a:xfrm>
            <a:off x="608980" y="4980965"/>
            <a:ext cx="11511900" cy="523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s-ES" sz="2200">
                <a:solidFill>
                  <a:schemeClr val="tx1"/>
                </a:solidFill>
                <a:latin typeface="Roboto Mono"/>
                <a:ea typeface="Roboto Mono"/>
                <a:cs typeface="Roboto Mono"/>
                <a:sym typeface="Roboto Mono"/>
              </a:rPr>
              <a:t>Se escribe el código y se compila con las dos flechas azules.</a:t>
            </a:r>
            <a:endParaRPr sz="2200" b="0" i="0" u="none" strike="noStrike" cap="none">
              <a:solidFill>
                <a:schemeClr val="tx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FE3446F-1EC9-76FA-B380-9C51D548CD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6851" y="600608"/>
            <a:ext cx="5744377" cy="4134427"/>
          </a:xfrm>
          <a:prstGeom prst="rect">
            <a:avLst/>
          </a:prstGeom>
        </p:spPr>
      </p:pic>
      <p:sp>
        <p:nvSpPr>
          <p:cNvPr id="7" name="Elipse 6">
            <a:extLst>
              <a:ext uri="{FF2B5EF4-FFF2-40B4-BE49-F238E27FC236}">
                <a16:creationId xmlns:a16="http://schemas.microsoft.com/office/drawing/2014/main" id="{2A4B53AE-B25B-2EC7-CD7D-4091B82FE135}"/>
              </a:ext>
            </a:extLst>
          </p:cNvPr>
          <p:cNvSpPr/>
          <p:nvPr/>
        </p:nvSpPr>
        <p:spPr>
          <a:xfrm>
            <a:off x="5484542" y="785443"/>
            <a:ext cx="1144545" cy="661165"/>
          </a:xfrm>
          <a:prstGeom prst="ellipse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71357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>
          <a:extLst>
            <a:ext uri="{FF2B5EF4-FFF2-40B4-BE49-F238E27FC236}">
              <a16:creationId xmlns:a16="http://schemas.microsoft.com/office/drawing/2014/main" id="{ED78C4E4-0676-1AAD-EBD1-A09D441180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">
            <a:extLst>
              <a:ext uri="{FF2B5EF4-FFF2-40B4-BE49-F238E27FC236}">
                <a16:creationId xmlns:a16="http://schemas.microsoft.com/office/drawing/2014/main" id="{94337F45-5278-132B-8E6D-07C706A8175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323850" cy="6867526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">
            <a:extLst>
              <a:ext uri="{FF2B5EF4-FFF2-40B4-BE49-F238E27FC236}">
                <a16:creationId xmlns:a16="http://schemas.microsoft.com/office/drawing/2014/main" id="{EB92D6D0-FEA7-AF44-2648-0284D1C3BFF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7000" y="294173"/>
            <a:ext cx="11399631" cy="8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397"/>
              <a:buFont typeface="Arial"/>
              <a:buNone/>
            </a:pPr>
            <a:r>
              <a:rPr lang="en-US" sz="2720">
                <a:solidFill>
                  <a:schemeClr val="lt1"/>
                </a:solidFill>
                <a:latin typeface="Roboto Mono ExtraLight"/>
                <a:ea typeface="Roboto Mono ExtraLight"/>
                <a:cs typeface="Roboto Mono ExtraLight"/>
                <a:sym typeface="Roboto Mono ExtraLight"/>
              </a:rPr>
              <a:t>Bien, comencemos…</a:t>
            </a:r>
            <a:endParaRPr sz="2720">
              <a:solidFill>
                <a:schemeClr val="lt1"/>
              </a:solidFill>
              <a:latin typeface="Roboto Mono ExtraLight"/>
              <a:ea typeface="Roboto Mono ExtraLight"/>
              <a:cs typeface="Roboto Mono ExtraLight"/>
              <a:sym typeface="Roboto Mono ExtraLight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397"/>
              <a:buFont typeface="Arial"/>
              <a:buNone/>
            </a:pPr>
            <a:r>
              <a:rPr lang="en-US" sz="2720">
                <a:solidFill>
                  <a:schemeClr val="lt1"/>
                </a:solidFill>
                <a:latin typeface="Roboto Mono ExtraLight"/>
                <a:ea typeface="Roboto Mono ExtraLight"/>
                <a:cs typeface="Roboto Mono ExtraLight"/>
                <a:sym typeface="Roboto Mono ExtraLight"/>
              </a:rPr>
              <a:t>Bien, comencemos…</a:t>
            </a:r>
            <a:endParaRPr sz="2720">
              <a:solidFill>
                <a:schemeClr val="lt1"/>
              </a:solidFill>
              <a:latin typeface="Roboto Mono ExtraLight"/>
              <a:ea typeface="Roboto Mono ExtraLight"/>
              <a:cs typeface="Roboto Mono ExtraLight"/>
              <a:sym typeface="Roboto Mono ExtraLight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397"/>
              <a:buFont typeface="Arial"/>
              <a:buNone/>
            </a:pPr>
            <a:r>
              <a:rPr lang="en-US" sz="2720">
                <a:solidFill>
                  <a:schemeClr val="lt1"/>
                </a:solidFill>
                <a:latin typeface="Roboto Mono ExtraLight"/>
                <a:ea typeface="Roboto Mono ExtraLight"/>
                <a:cs typeface="Roboto Mono ExtraLight"/>
                <a:sym typeface="Roboto Mono ExtraLight"/>
              </a:rPr>
              <a:t>Bien, comencemos…</a:t>
            </a:r>
            <a:endParaRPr sz="2720">
              <a:solidFill>
                <a:schemeClr val="lt1"/>
              </a:solidFill>
              <a:latin typeface="Roboto Mono ExtraLight"/>
              <a:ea typeface="Roboto Mono ExtraLight"/>
              <a:cs typeface="Roboto Mono ExtraLight"/>
              <a:sym typeface="Roboto Mono ExtraLight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397"/>
              <a:buFont typeface="Arial"/>
              <a:buNone/>
            </a:pPr>
            <a:r>
              <a:rPr lang="en-US" sz="2720">
                <a:solidFill>
                  <a:schemeClr val="lt1"/>
                </a:solidFill>
                <a:latin typeface="Roboto Mono ExtraLight"/>
                <a:ea typeface="Roboto Mono ExtraLight"/>
                <a:cs typeface="Roboto Mono ExtraLight"/>
                <a:sym typeface="Roboto Mono ExtraLight"/>
              </a:rPr>
              <a:t>Bien, comencemos…</a:t>
            </a:r>
            <a:endParaRPr sz="2720">
              <a:solidFill>
                <a:schemeClr val="lt1"/>
              </a:solidFill>
              <a:latin typeface="Roboto Mono ExtraLight"/>
              <a:ea typeface="Roboto Mono ExtraLight"/>
              <a:cs typeface="Roboto Mono ExtraLight"/>
              <a:sym typeface="Roboto Mono ExtraLight"/>
            </a:endParaRPr>
          </a:p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20000"/>
              <a:buFont typeface="Calibri"/>
              <a:buNone/>
            </a:pPr>
            <a:r>
              <a:rPr lang="es-ES"/>
              <a:t>Desde un IDE</a:t>
            </a:r>
            <a:endParaRPr/>
          </a:p>
        </p:txBody>
      </p:sp>
      <p:sp>
        <p:nvSpPr>
          <p:cNvPr id="6" name="Google Shape;117;p1">
            <a:extLst>
              <a:ext uri="{FF2B5EF4-FFF2-40B4-BE49-F238E27FC236}">
                <a16:creationId xmlns:a16="http://schemas.microsoft.com/office/drawing/2014/main" id="{C22D13A1-D2F5-2DD1-E1DB-9F195FC7498C}"/>
              </a:ext>
            </a:extLst>
          </p:cNvPr>
          <p:cNvSpPr txBox="1"/>
          <p:nvPr/>
        </p:nvSpPr>
        <p:spPr>
          <a:xfrm>
            <a:off x="608980" y="4980965"/>
            <a:ext cx="11511900" cy="1200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s-ES" sz="2200">
                <a:solidFill>
                  <a:schemeClr val="tx1"/>
                </a:solidFill>
                <a:latin typeface="Roboto Mono"/>
                <a:ea typeface="Roboto Mono"/>
                <a:cs typeface="Roboto Mono"/>
                <a:sym typeface="Roboto Mono"/>
              </a:rPr>
              <a:t>Si el mensaje de compilación no da 0 errores y 0 warnings (advertencias), se debe corregir el código.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s-ES" sz="2200" b="0" i="0" u="none" strike="noStrike" cap="none">
                <a:solidFill>
                  <a:schemeClr val="tx1"/>
                </a:solidFill>
                <a:latin typeface="Roboto Mono"/>
                <a:ea typeface="Roboto Mono"/>
                <a:cs typeface="Roboto Mono"/>
                <a:sym typeface="Roboto Mono"/>
              </a:rPr>
              <a:t>Luego, se corre con el botón play (verde).</a:t>
            </a:r>
            <a:endParaRPr sz="2200" b="0" i="0" u="none" strike="noStrike" cap="none">
              <a:solidFill>
                <a:schemeClr val="tx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CFB4EE7-4BBE-7400-78E9-41CB039D0B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2770" y="1451716"/>
            <a:ext cx="8828444" cy="3130443"/>
          </a:xfrm>
          <a:prstGeom prst="rect">
            <a:avLst/>
          </a:prstGeom>
        </p:spPr>
      </p:pic>
      <p:sp>
        <p:nvSpPr>
          <p:cNvPr id="7" name="Elipse 6">
            <a:extLst>
              <a:ext uri="{FF2B5EF4-FFF2-40B4-BE49-F238E27FC236}">
                <a16:creationId xmlns:a16="http://schemas.microsoft.com/office/drawing/2014/main" id="{0AC3D25B-DCCC-E79A-FF23-B1FD0C903527}"/>
              </a:ext>
            </a:extLst>
          </p:cNvPr>
          <p:cNvSpPr/>
          <p:nvPr/>
        </p:nvSpPr>
        <p:spPr>
          <a:xfrm>
            <a:off x="1522770" y="2912325"/>
            <a:ext cx="5233630" cy="1669834"/>
          </a:xfrm>
          <a:prstGeom prst="ellipse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73296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>
          <a:extLst>
            <a:ext uri="{FF2B5EF4-FFF2-40B4-BE49-F238E27FC236}">
              <a16:creationId xmlns:a16="http://schemas.microsoft.com/office/drawing/2014/main" id="{BCF552F3-98E2-B3DB-E0D1-460247740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">
            <a:extLst>
              <a:ext uri="{FF2B5EF4-FFF2-40B4-BE49-F238E27FC236}">
                <a16:creationId xmlns:a16="http://schemas.microsoft.com/office/drawing/2014/main" id="{8A09EF45-754F-0004-FECB-E227549382A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323850" cy="6867526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">
            <a:extLst>
              <a:ext uri="{FF2B5EF4-FFF2-40B4-BE49-F238E27FC236}">
                <a16:creationId xmlns:a16="http://schemas.microsoft.com/office/drawing/2014/main" id="{66E73403-333F-0071-CA45-BF0722DEF2B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7000" y="294173"/>
            <a:ext cx="11399631" cy="8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397"/>
              <a:buFont typeface="Arial"/>
              <a:buNone/>
            </a:pPr>
            <a:r>
              <a:rPr lang="en-US" sz="2720">
                <a:solidFill>
                  <a:schemeClr val="lt1"/>
                </a:solidFill>
                <a:latin typeface="Roboto Mono ExtraLight"/>
                <a:ea typeface="Roboto Mono ExtraLight"/>
                <a:cs typeface="Roboto Mono ExtraLight"/>
                <a:sym typeface="Roboto Mono ExtraLight"/>
              </a:rPr>
              <a:t>Bien, comencemos…</a:t>
            </a:r>
            <a:endParaRPr sz="2720">
              <a:solidFill>
                <a:schemeClr val="lt1"/>
              </a:solidFill>
              <a:latin typeface="Roboto Mono ExtraLight"/>
              <a:ea typeface="Roboto Mono ExtraLight"/>
              <a:cs typeface="Roboto Mono ExtraLight"/>
              <a:sym typeface="Roboto Mono ExtraLight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397"/>
              <a:buFont typeface="Arial"/>
              <a:buNone/>
            </a:pPr>
            <a:r>
              <a:rPr lang="en-US" sz="2720">
                <a:solidFill>
                  <a:schemeClr val="lt1"/>
                </a:solidFill>
                <a:latin typeface="Roboto Mono ExtraLight"/>
                <a:ea typeface="Roboto Mono ExtraLight"/>
                <a:cs typeface="Roboto Mono ExtraLight"/>
                <a:sym typeface="Roboto Mono ExtraLight"/>
              </a:rPr>
              <a:t>Bien, comencemos…</a:t>
            </a:r>
            <a:endParaRPr sz="2720">
              <a:solidFill>
                <a:schemeClr val="lt1"/>
              </a:solidFill>
              <a:latin typeface="Roboto Mono ExtraLight"/>
              <a:ea typeface="Roboto Mono ExtraLight"/>
              <a:cs typeface="Roboto Mono ExtraLight"/>
              <a:sym typeface="Roboto Mono ExtraLight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397"/>
              <a:buFont typeface="Arial"/>
              <a:buNone/>
            </a:pPr>
            <a:r>
              <a:rPr lang="en-US" sz="2720">
                <a:solidFill>
                  <a:schemeClr val="lt1"/>
                </a:solidFill>
                <a:latin typeface="Roboto Mono ExtraLight"/>
                <a:ea typeface="Roboto Mono ExtraLight"/>
                <a:cs typeface="Roboto Mono ExtraLight"/>
                <a:sym typeface="Roboto Mono ExtraLight"/>
              </a:rPr>
              <a:t>Bien, comencemos…</a:t>
            </a:r>
            <a:endParaRPr sz="2720">
              <a:solidFill>
                <a:schemeClr val="lt1"/>
              </a:solidFill>
              <a:latin typeface="Roboto Mono ExtraLight"/>
              <a:ea typeface="Roboto Mono ExtraLight"/>
              <a:cs typeface="Roboto Mono ExtraLight"/>
              <a:sym typeface="Roboto Mono ExtraLight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397"/>
              <a:buFont typeface="Arial"/>
              <a:buNone/>
            </a:pPr>
            <a:r>
              <a:rPr lang="en-US" sz="2720">
                <a:solidFill>
                  <a:schemeClr val="lt1"/>
                </a:solidFill>
                <a:latin typeface="Roboto Mono ExtraLight"/>
                <a:ea typeface="Roboto Mono ExtraLight"/>
                <a:cs typeface="Roboto Mono ExtraLight"/>
                <a:sym typeface="Roboto Mono ExtraLight"/>
              </a:rPr>
              <a:t>Bien, comencemos…</a:t>
            </a:r>
            <a:endParaRPr sz="2720">
              <a:solidFill>
                <a:schemeClr val="lt1"/>
              </a:solidFill>
              <a:latin typeface="Roboto Mono ExtraLight"/>
              <a:ea typeface="Roboto Mono ExtraLight"/>
              <a:cs typeface="Roboto Mono ExtraLight"/>
              <a:sym typeface="Roboto Mono ExtraLight"/>
            </a:endParaRPr>
          </a:p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20000"/>
              <a:buFont typeface="Calibri"/>
              <a:buNone/>
            </a:pPr>
            <a:r>
              <a:rPr lang="es-ES"/>
              <a:t>Desde un IDE</a:t>
            </a:r>
            <a:endParaRPr/>
          </a:p>
        </p:txBody>
      </p:sp>
      <p:sp>
        <p:nvSpPr>
          <p:cNvPr id="6" name="Google Shape;117;p1">
            <a:extLst>
              <a:ext uri="{FF2B5EF4-FFF2-40B4-BE49-F238E27FC236}">
                <a16:creationId xmlns:a16="http://schemas.microsoft.com/office/drawing/2014/main" id="{82FA0CFB-068E-3BCC-A320-68A7E478E831}"/>
              </a:ext>
            </a:extLst>
          </p:cNvPr>
          <p:cNvSpPr txBox="1"/>
          <p:nvPr/>
        </p:nvSpPr>
        <p:spPr>
          <a:xfrm>
            <a:off x="812180" y="4371365"/>
            <a:ext cx="11511900" cy="1538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s-ES" sz="2200">
                <a:solidFill>
                  <a:schemeClr val="tx1"/>
                </a:solidFill>
                <a:latin typeface="Roboto Mono"/>
                <a:ea typeface="Roboto Mono"/>
                <a:cs typeface="Roboto Mono"/>
                <a:sym typeface="Roboto Mono"/>
              </a:rPr>
              <a:t>Al correrlo puede ser que (dependiendo del IDE):</a:t>
            </a: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Tx/>
              <a:buChar char="-"/>
            </a:pPr>
            <a:r>
              <a:rPr lang="es-ES" sz="2200" b="0" i="0" u="none" strike="noStrike" cap="none">
                <a:solidFill>
                  <a:schemeClr val="tx1"/>
                </a:solidFill>
                <a:latin typeface="Roboto Mono"/>
                <a:ea typeface="Roboto Mono"/>
                <a:cs typeface="Roboto Mono"/>
                <a:sym typeface="Roboto Mono"/>
              </a:rPr>
              <a:t>Se abra una nueva ventana con la ejecución</a:t>
            </a: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Tx/>
              <a:buChar char="-"/>
            </a:pPr>
            <a:r>
              <a:rPr lang="es-ES" sz="2200">
                <a:solidFill>
                  <a:schemeClr val="tx1"/>
                </a:solidFill>
                <a:latin typeface="Roboto Mono"/>
                <a:ea typeface="Roboto Mono"/>
                <a:cs typeface="Roboto Mono"/>
                <a:sym typeface="Roboto Mono"/>
              </a:rPr>
              <a:t>Se vea la ejecución en la parte de abajo del IDE</a:t>
            </a: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</a:pPr>
            <a:endParaRPr sz="2200" b="0" i="0" u="none" strike="noStrike" cap="none">
              <a:solidFill>
                <a:schemeClr val="tx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B35027D-AF0F-B75B-6FF6-D954D131D0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29630" y="1666735"/>
            <a:ext cx="8035593" cy="2417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810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>
          <a:extLst>
            <a:ext uri="{FF2B5EF4-FFF2-40B4-BE49-F238E27FC236}">
              <a16:creationId xmlns:a16="http://schemas.microsoft.com/office/drawing/2014/main" id="{9B4EC0E8-1E73-7407-8D4D-03C97B847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">
            <a:extLst>
              <a:ext uri="{FF2B5EF4-FFF2-40B4-BE49-F238E27FC236}">
                <a16:creationId xmlns:a16="http://schemas.microsoft.com/office/drawing/2014/main" id="{0B18EC2F-483E-02B9-75E6-E6F1C588BFE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323850" cy="6867526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">
            <a:extLst>
              <a:ext uri="{FF2B5EF4-FFF2-40B4-BE49-F238E27FC236}">
                <a16:creationId xmlns:a16="http://schemas.microsoft.com/office/drawing/2014/main" id="{7720BAC8-C96F-1AF1-1E01-538F84B3C9A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7000" y="294173"/>
            <a:ext cx="11399631" cy="8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397"/>
              <a:buFont typeface="Arial"/>
              <a:buNone/>
            </a:pPr>
            <a:r>
              <a:rPr lang="en-US" sz="2720">
                <a:solidFill>
                  <a:schemeClr val="lt1"/>
                </a:solidFill>
                <a:latin typeface="Roboto Mono ExtraLight"/>
                <a:ea typeface="Roboto Mono ExtraLight"/>
                <a:cs typeface="Roboto Mono ExtraLight"/>
                <a:sym typeface="Roboto Mono ExtraLight"/>
              </a:rPr>
              <a:t>Bien, comencemos…</a:t>
            </a:r>
            <a:endParaRPr sz="2720">
              <a:solidFill>
                <a:schemeClr val="lt1"/>
              </a:solidFill>
              <a:latin typeface="Roboto Mono ExtraLight"/>
              <a:ea typeface="Roboto Mono ExtraLight"/>
              <a:cs typeface="Roboto Mono ExtraLight"/>
              <a:sym typeface="Roboto Mono ExtraLight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397"/>
              <a:buFont typeface="Arial"/>
              <a:buNone/>
            </a:pPr>
            <a:r>
              <a:rPr lang="en-US" sz="2720">
                <a:solidFill>
                  <a:schemeClr val="lt1"/>
                </a:solidFill>
                <a:latin typeface="Roboto Mono ExtraLight"/>
                <a:ea typeface="Roboto Mono ExtraLight"/>
                <a:cs typeface="Roboto Mono ExtraLight"/>
                <a:sym typeface="Roboto Mono ExtraLight"/>
              </a:rPr>
              <a:t>Bien, comencemos…</a:t>
            </a:r>
            <a:endParaRPr sz="2720">
              <a:solidFill>
                <a:schemeClr val="lt1"/>
              </a:solidFill>
              <a:latin typeface="Roboto Mono ExtraLight"/>
              <a:ea typeface="Roboto Mono ExtraLight"/>
              <a:cs typeface="Roboto Mono ExtraLight"/>
              <a:sym typeface="Roboto Mono ExtraLight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397"/>
              <a:buFont typeface="Arial"/>
              <a:buNone/>
            </a:pPr>
            <a:r>
              <a:rPr lang="en-US" sz="2720">
                <a:solidFill>
                  <a:schemeClr val="lt1"/>
                </a:solidFill>
                <a:latin typeface="Roboto Mono ExtraLight"/>
                <a:ea typeface="Roboto Mono ExtraLight"/>
                <a:cs typeface="Roboto Mono ExtraLight"/>
                <a:sym typeface="Roboto Mono ExtraLight"/>
              </a:rPr>
              <a:t>Bien, comencemos…</a:t>
            </a:r>
            <a:endParaRPr sz="2720">
              <a:solidFill>
                <a:schemeClr val="lt1"/>
              </a:solidFill>
              <a:latin typeface="Roboto Mono ExtraLight"/>
              <a:ea typeface="Roboto Mono ExtraLight"/>
              <a:cs typeface="Roboto Mono ExtraLight"/>
              <a:sym typeface="Roboto Mono ExtraLight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397"/>
              <a:buFont typeface="Arial"/>
              <a:buNone/>
            </a:pPr>
            <a:r>
              <a:rPr lang="en-US" sz="2720">
                <a:solidFill>
                  <a:schemeClr val="lt1"/>
                </a:solidFill>
                <a:latin typeface="Roboto Mono ExtraLight"/>
                <a:ea typeface="Roboto Mono ExtraLight"/>
                <a:cs typeface="Roboto Mono ExtraLight"/>
                <a:sym typeface="Roboto Mono ExtraLight"/>
              </a:rPr>
              <a:t>Bien, comencemos…</a:t>
            </a:r>
            <a:endParaRPr sz="2720">
              <a:solidFill>
                <a:schemeClr val="lt1"/>
              </a:solidFill>
              <a:latin typeface="Roboto Mono ExtraLight"/>
              <a:ea typeface="Roboto Mono ExtraLight"/>
              <a:cs typeface="Roboto Mono ExtraLight"/>
              <a:sym typeface="Roboto Mono ExtraLight"/>
            </a:endParaRPr>
          </a:p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20000"/>
              <a:buFont typeface="Calibri"/>
              <a:buNone/>
            </a:pPr>
            <a:r>
              <a:rPr lang="es-ES"/>
              <a:t>Reglas</a:t>
            </a:r>
            <a:endParaRPr/>
          </a:p>
        </p:txBody>
      </p:sp>
      <p:sp>
        <p:nvSpPr>
          <p:cNvPr id="6" name="Google Shape;117;p1">
            <a:extLst>
              <a:ext uri="{FF2B5EF4-FFF2-40B4-BE49-F238E27FC236}">
                <a16:creationId xmlns:a16="http://schemas.microsoft.com/office/drawing/2014/main" id="{16329C5B-9DD3-8EDC-8D55-DBD5D3712A46}"/>
              </a:ext>
            </a:extLst>
          </p:cNvPr>
          <p:cNvSpPr txBox="1"/>
          <p:nvPr/>
        </p:nvSpPr>
        <p:spPr>
          <a:xfrm>
            <a:off x="598820" y="1709445"/>
            <a:ext cx="11511900" cy="2893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 panose="020B0604020202020204" pitchFamily="34" charset="0"/>
              <a:buChar char="•"/>
            </a:pPr>
            <a:r>
              <a:rPr lang="es-ES" sz="2200">
                <a:solidFill>
                  <a:schemeClr val="tx1"/>
                </a:solidFill>
                <a:latin typeface="Roboto Mono"/>
                <a:ea typeface="Roboto Mono"/>
                <a:cs typeface="Roboto Mono"/>
                <a:sym typeface="Roboto Mono"/>
              </a:rPr>
              <a:t>Cada sentencia termina en punto y coma</a:t>
            </a: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 panose="020B0604020202020204" pitchFamily="34" charset="0"/>
              <a:buChar char="•"/>
            </a:pPr>
            <a:endParaRPr lang="es-ES" sz="2200">
              <a:solidFill>
                <a:schemeClr val="tx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 panose="020B0604020202020204" pitchFamily="34" charset="0"/>
              <a:buChar char="•"/>
            </a:pPr>
            <a:r>
              <a:rPr lang="es-ES" sz="2200" b="0" i="0" u="none" strike="noStrike" cap="none">
                <a:solidFill>
                  <a:schemeClr val="tx1"/>
                </a:solidFill>
                <a:latin typeface="Roboto Mono"/>
                <a:ea typeface="Roboto Mono"/>
                <a:cs typeface="Roboto Mono"/>
                <a:sym typeface="Roboto Mono"/>
              </a:rPr>
              <a:t>Los bloques se abren y se cierran con llaves:</a:t>
            </a: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</a:pPr>
            <a:r>
              <a:rPr lang="es-ES" sz="2200">
                <a:solidFill>
                  <a:schemeClr val="tx1"/>
                </a:solidFill>
                <a:latin typeface="Roboto Mono"/>
                <a:ea typeface="Roboto Mono"/>
                <a:cs typeface="Roboto Mono"/>
                <a:sym typeface="Roboto Mono"/>
              </a:rPr>
              <a:t>  { apertura</a:t>
            </a: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</a:pPr>
            <a:r>
              <a:rPr lang="es-ES" sz="2200" b="0" i="0" u="none" strike="noStrike" cap="none">
                <a:solidFill>
                  <a:schemeClr val="tx1"/>
                </a:solidFill>
                <a:latin typeface="Roboto Mono"/>
                <a:ea typeface="Roboto Mono"/>
                <a:cs typeface="Roboto Mono"/>
                <a:sym typeface="Roboto Mono"/>
              </a:rPr>
              <a:t>  } cierre</a:t>
            </a: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</a:pPr>
            <a:endParaRPr lang="es-ES" sz="2200">
              <a:solidFill>
                <a:schemeClr val="tx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 panose="020B0604020202020204" pitchFamily="34" charset="0"/>
              <a:buChar char="•"/>
            </a:pPr>
            <a:r>
              <a:rPr lang="es-ES" sz="2200" b="0" i="0" u="none" strike="noStrike" cap="none">
                <a:solidFill>
                  <a:schemeClr val="tx1"/>
                </a:solidFill>
                <a:latin typeface="Roboto Mono"/>
                <a:ea typeface="Roboto Mono"/>
                <a:cs typeface="Roboto Mono"/>
                <a:sym typeface="Roboto Mono"/>
              </a:rPr>
              <a:t>Los espacios no se tienen en cuenta, pero se recomienda mantenerlos como en Python</a:t>
            </a:r>
            <a:endParaRPr sz="2200" b="0" i="0" u="none" strike="noStrike" cap="none">
              <a:solidFill>
                <a:schemeClr val="tx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  <p:extLst>
      <p:ext uri="{BB962C8B-B14F-4D97-AF65-F5344CB8AC3E}">
        <p14:creationId xmlns:p14="http://schemas.microsoft.com/office/powerpoint/2010/main" val="2522641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>
          <a:extLst>
            <a:ext uri="{FF2B5EF4-FFF2-40B4-BE49-F238E27FC236}">
              <a16:creationId xmlns:a16="http://schemas.microsoft.com/office/drawing/2014/main" id="{DE4C1378-AA9E-EC88-3922-E31246EEB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">
            <a:extLst>
              <a:ext uri="{FF2B5EF4-FFF2-40B4-BE49-F238E27FC236}">
                <a16:creationId xmlns:a16="http://schemas.microsoft.com/office/drawing/2014/main" id="{AD66877D-FD8F-ABD4-2812-87F6C5F0BF1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323850" cy="6867526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">
            <a:extLst>
              <a:ext uri="{FF2B5EF4-FFF2-40B4-BE49-F238E27FC236}">
                <a16:creationId xmlns:a16="http://schemas.microsoft.com/office/drawing/2014/main" id="{2484C62B-54FF-00A6-6CC4-8BCC631C9E7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7000" y="294173"/>
            <a:ext cx="11399631" cy="8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397"/>
              <a:buFont typeface="Arial"/>
              <a:buNone/>
            </a:pPr>
            <a:r>
              <a:rPr lang="en-US" sz="2720">
                <a:solidFill>
                  <a:schemeClr val="lt1"/>
                </a:solidFill>
                <a:latin typeface="Roboto Mono ExtraLight"/>
                <a:ea typeface="Roboto Mono ExtraLight"/>
                <a:cs typeface="Roboto Mono ExtraLight"/>
                <a:sym typeface="Roboto Mono ExtraLight"/>
              </a:rPr>
              <a:t>Bien, comencemos…</a:t>
            </a:r>
            <a:endParaRPr sz="2720">
              <a:solidFill>
                <a:schemeClr val="lt1"/>
              </a:solidFill>
              <a:latin typeface="Roboto Mono ExtraLight"/>
              <a:ea typeface="Roboto Mono ExtraLight"/>
              <a:cs typeface="Roboto Mono ExtraLight"/>
              <a:sym typeface="Roboto Mono ExtraLight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397"/>
              <a:buFont typeface="Arial"/>
              <a:buNone/>
            </a:pPr>
            <a:r>
              <a:rPr lang="en-US" sz="2720">
                <a:solidFill>
                  <a:schemeClr val="lt1"/>
                </a:solidFill>
                <a:latin typeface="Roboto Mono ExtraLight"/>
                <a:ea typeface="Roboto Mono ExtraLight"/>
                <a:cs typeface="Roboto Mono ExtraLight"/>
                <a:sym typeface="Roboto Mono ExtraLight"/>
              </a:rPr>
              <a:t>Bien, comencemos…</a:t>
            </a:r>
            <a:endParaRPr sz="2720">
              <a:solidFill>
                <a:schemeClr val="lt1"/>
              </a:solidFill>
              <a:latin typeface="Roboto Mono ExtraLight"/>
              <a:ea typeface="Roboto Mono ExtraLight"/>
              <a:cs typeface="Roboto Mono ExtraLight"/>
              <a:sym typeface="Roboto Mono ExtraLight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397"/>
              <a:buFont typeface="Arial"/>
              <a:buNone/>
            </a:pPr>
            <a:r>
              <a:rPr lang="en-US" sz="2720">
                <a:solidFill>
                  <a:schemeClr val="lt1"/>
                </a:solidFill>
                <a:latin typeface="Roboto Mono ExtraLight"/>
                <a:ea typeface="Roboto Mono ExtraLight"/>
                <a:cs typeface="Roboto Mono ExtraLight"/>
                <a:sym typeface="Roboto Mono ExtraLight"/>
              </a:rPr>
              <a:t>Bien, comencemos…</a:t>
            </a:r>
            <a:endParaRPr sz="2720">
              <a:solidFill>
                <a:schemeClr val="lt1"/>
              </a:solidFill>
              <a:latin typeface="Roboto Mono ExtraLight"/>
              <a:ea typeface="Roboto Mono ExtraLight"/>
              <a:cs typeface="Roboto Mono ExtraLight"/>
              <a:sym typeface="Roboto Mono ExtraLight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397"/>
              <a:buFont typeface="Arial"/>
              <a:buNone/>
            </a:pPr>
            <a:r>
              <a:rPr lang="en-US" sz="2720">
                <a:solidFill>
                  <a:schemeClr val="lt1"/>
                </a:solidFill>
                <a:latin typeface="Roboto Mono ExtraLight"/>
                <a:ea typeface="Roboto Mono ExtraLight"/>
                <a:cs typeface="Roboto Mono ExtraLight"/>
                <a:sym typeface="Roboto Mono ExtraLight"/>
              </a:rPr>
              <a:t>Bien, comencemos…</a:t>
            </a:r>
            <a:endParaRPr sz="2720">
              <a:solidFill>
                <a:schemeClr val="lt1"/>
              </a:solidFill>
              <a:latin typeface="Roboto Mono ExtraLight"/>
              <a:ea typeface="Roboto Mono ExtraLight"/>
              <a:cs typeface="Roboto Mono ExtraLight"/>
              <a:sym typeface="Roboto Mono ExtraLight"/>
            </a:endParaRPr>
          </a:p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20000"/>
              <a:buFont typeface="Calibri"/>
              <a:buNone/>
            </a:pPr>
            <a:r>
              <a:rPr lang="es-ES"/>
              <a:t>Tipos de datos</a:t>
            </a:r>
            <a:endParaRPr/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D1E59BD9-F6D7-3514-0A38-EEF6D5EAB4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3826401"/>
              </p:ext>
            </p:extLst>
          </p:nvPr>
        </p:nvGraphicFramePr>
        <p:xfrm>
          <a:off x="2255520" y="1766146"/>
          <a:ext cx="8127999" cy="262128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746695284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886130041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7563502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sz="2800"/>
                        <a:t>Tipo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800"/>
                        <a:t>nombre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800"/>
                        <a:t>almacena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9035495"/>
                  </a:ext>
                </a:extLst>
              </a:tr>
              <a:tr h="370840">
                <a:tc rowSpan="4">
                  <a:txBody>
                    <a:bodyPr/>
                    <a:lstStyle/>
                    <a:p>
                      <a:pPr algn="ctr"/>
                      <a:r>
                        <a:rPr lang="es-ES" sz="2800"/>
                        <a:t>Numéricos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/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/>
                        <a:t>enteros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625170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/>
                        <a:t>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/>
                        <a:t>enteros y chars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608255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/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/>
                        <a:t>con coma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447153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/>
                        <a:t>double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/>
                        <a:t>con más precisión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97055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sz="2800"/>
                        <a:t>Vacío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/>
                        <a:t>void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/>
                        <a:t>nada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19898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993151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>
          <a:extLst>
            <a:ext uri="{FF2B5EF4-FFF2-40B4-BE49-F238E27FC236}">
              <a16:creationId xmlns:a16="http://schemas.microsoft.com/office/drawing/2014/main" id="{8042998B-EAF7-0BA2-5853-F2893CE37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">
            <a:extLst>
              <a:ext uri="{FF2B5EF4-FFF2-40B4-BE49-F238E27FC236}">
                <a16:creationId xmlns:a16="http://schemas.microsoft.com/office/drawing/2014/main" id="{809D5B89-325A-1D9B-407A-3501803E9EF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323850" cy="6867526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">
            <a:extLst>
              <a:ext uri="{FF2B5EF4-FFF2-40B4-BE49-F238E27FC236}">
                <a16:creationId xmlns:a16="http://schemas.microsoft.com/office/drawing/2014/main" id="{196B87A3-1656-BCC7-2D00-6EC73E1C262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7000" y="294173"/>
            <a:ext cx="11399631" cy="8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397"/>
              <a:buFont typeface="Arial"/>
              <a:buNone/>
            </a:pPr>
            <a:r>
              <a:rPr lang="en-US" sz="2720">
                <a:solidFill>
                  <a:schemeClr val="lt1"/>
                </a:solidFill>
                <a:latin typeface="Roboto Mono ExtraLight"/>
                <a:ea typeface="Roboto Mono ExtraLight"/>
                <a:cs typeface="Roboto Mono ExtraLight"/>
                <a:sym typeface="Roboto Mono ExtraLight"/>
              </a:rPr>
              <a:t>Bien, comencemos…</a:t>
            </a:r>
            <a:endParaRPr sz="2720">
              <a:solidFill>
                <a:schemeClr val="lt1"/>
              </a:solidFill>
              <a:latin typeface="Roboto Mono ExtraLight"/>
              <a:ea typeface="Roboto Mono ExtraLight"/>
              <a:cs typeface="Roboto Mono ExtraLight"/>
              <a:sym typeface="Roboto Mono ExtraLight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397"/>
              <a:buFont typeface="Arial"/>
              <a:buNone/>
            </a:pPr>
            <a:r>
              <a:rPr lang="en-US" sz="2720">
                <a:solidFill>
                  <a:schemeClr val="lt1"/>
                </a:solidFill>
                <a:latin typeface="Roboto Mono ExtraLight"/>
                <a:ea typeface="Roboto Mono ExtraLight"/>
                <a:cs typeface="Roboto Mono ExtraLight"/>
                <a:sym typeface="Roboto Mono ExtraLight"/>
              </a:rPr>
              <a:t>Bien, comencemos…</a:t>
            </a:r>
            <a:endParaRPr sz="2720">
              <a:solidFill>
                <a:schemeClr val="lt1"/>
              </a:solidFill>
              <a:latin typeface="Roboto Mono ExtraLight"/>
              <a:ea typeface="Roboto Mono ExtraLight"/>
              <a:cs typeface="Roboto Mono ExtraLight"/>
              <a:sym typeface="Roboto Mono ExtraLight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397"/>
              <a:buFont typeface="Arial"/>
              <a:buNone/>
            </a:pPr>
            <a:r>
              <a:rPr lang="en-US" sz="2720">
                <a:solidFill>
                  <a:schemeClr val="lt1"/>
                </a:solidFill>
                <a:latin typeface="Roboto Mono ExtraLight"/>
                <a:ea typeface="Roboto Mono ExtraLight"/>
                <a:cs typeface="Roboto Mono ExtraLight"/>
                <a:sym typeface="Roboto Mono ExtraLight"/>
              </a:rPr>
              <a:t>Bien, comencemos…</a:t>
            </a:r>
            <a:endParaRPr sz="2720">
              <a:solidFill>
                <a:schemeClr val="lt1"/>
              </a:solidFill>
              <a:latin typeface="Roboto Mono ExtraLight"/>
              <a:ea typeface="Roboto Mono ExtraLight"/>
              <a:cs typeface="Roboto Mono ExtraLight"/>
              <a:sym typeface="Roboto Mono ExtraLight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397"/>
              <a:buFont typeface="Arial"/>
              <a:buNone/>
            </a:pPr>
            <a:r>
              <a:rPr lang="en-US" sz="2720">
                <a:solidFill>
                  <a:schemeClr val="lt1"/>
                </a:solidFill>
                <a:latin typeface="Roboto Mono ExtraLight"/>
                <a:ea typeface="Roboto Mono ExtraLight"/>
                <a:cs typeface="Roboto Mono ExtraLight"/>
                <a:sym typeface="Roboto Mono ExtraLight"/>
              </a:rPr>
              <a:t>Bien, comencemos…</a:t>
            </a:r>
            <a:endParaRPr sz="2720">
              <a:solidFill>
                <a:schemeClr val="lt1"/>
              </a:solidFill>
              <a:latin typeface="Roboto Mono ExtraLight"/>
              <a:ea typeface="Roboto Mono ExtraLight"/>
              <a:cs typeface="Roboto Mono ExtraLight"/>
              <a:sym typeface="Roboto Mono ExtraLight"/>
            </a:endParaRPr>
          </a:p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20000"/>
              <a:buFont typeface="Calibri"/>
              <a:buNone/>
            </a:pPr>
            <a:r>
              <a:rPr lang="es-ES"/>
              <a:t>Modificadores</a:t>
            </a:r>
            <a:endParaRPr/>
          </a:p>
        </p:txBody>
      </p:sp>
      <p:sp>
        <p:nvSpPr>
          <p:cNvPr id="6" name="Google Shape;117;p1">
            <a:extLst>
              <a:ext uri="{FF2B5EF4-FFF2-40B4-BE49-F238E27FC236}">
                <a16:creationId xmlns:a16="http://schemas.microsoft.com/office/drawing/2014/main" id="{167808AA-70C9-AA4C-A548-72FB78546E75}"/>
              </a:ext>
            </a:extLst>
          </p:cNvPr>
          <p:cNvSpPr txBox="1"/>
          <p:nvPr/>
        </p:nvSpPr>
        <p:spPr>
          <a:xfrm>
            <a:off x="680100" y="1587525"/>
            <a:ext cx="11511900" cy="2554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 panose="020B0604020202020204" pitchFamily="34" charset="0"/>
              <a:buChar char="•"/>
            </a:pPr>
            <a:r>
              <a:rPr lang="es-ES" sz="2200">
                <a:solidFill>
                  <a:schemeClr val="tx1"/>
                </a:solidFill>
                <a:latin typeface="Roboto Mono"/>
                <a:ea typeface="Roboto Mono"/>
                <a:cs typeface="Roboto Mono"/>
                <a:sym typeface="Roboto Mono"/>
              </a:rPr>
              <a:t>short (pequeño)</a:t>
            </a: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 panose="020B0604020202020204" pitchFamily="34" charset="0"/>
              <a:buChar char="•"/>
            </a:pPr>
            <a:endParaRPr lang="es-ES" sz="2200">
              <a:solidFill>
                <a:schemeClr val="tx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 panose="020B0604020202020204" pitchFamily="34" charset="0"/>
              <a:buChar char="•"/>
            </a:pPr>
            <a:r>
              <a:rPr lang="es-ES" sz="2200">
                <a:solidFill>
                  <a:schemeClr val="tx1"/>
                </a:solidFill>
                <a:latin typeface="Roboto Mono"/>
                <a:ea typeface="Roboto Mono"/>
                <a:cs typeface="Roboto Mono"/>
                <a:sym typeface="Roboto Mono"/>
              </a:rPr>
              <a:t>l</a:t>
            </a:r>
            <a:r>
              <a:rPr lang="es-ES" sz="2200" b="0" i="0" u="none" strike="noStrike" cap="none">
                <a:solidFill>
                  <a:schemeClr val="tx1"/>
                </a:solidFill>
                <a:latin typeface="Roboto Mono"/>
                <a:ea typeface="Roboto Mono"/>
                <a:cs typeface="Roboto Mono"/>
                <a:sym typeface="Roboto Mono"/>
              </a:rPr>
              <a:t>ong  (más grande)</a:t>
            </a: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 panose="020B0604020202020204" pitchFamily="34" charset="0"/>
              <a:buChar char="•"/>
            </a:pPr>
            <a:endParaRPr lang="es-ES" sz="2200" b="0" i="0" u="none" strike="noStrike" cap="none">
              <a:solidFill>
                <a:schemeClr val="tx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 panose="020B0604020202020204" pitchFamily="34" charset="0"/>
              <a:buChar char="•"/>
            </a:pPr>
            <a:r>
              <a:rPr lang="es-ES" sz="2200" b="0" i="0" u="none" strike="noStrike" cap="none">
                <a:solidFill>
                  <a:schemeClr val="tx1"/>
                </a:solidFill>
                <a:latin typeface="Roboto Mono"/>
                <a:ea typeface="Roboto Mono"/>
                <a:cs typeface="Roboto Mono"/>
                <a:sym typeface="Roboto Mono"/>
              </a:rPr>
              <a:t>signed (con signo: positivos y negativos)</a:t>
            </a: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 panose="020B0604020202020204" pitchFamily="34" charset="0"/>
              <a:buChar char="•"/>
            </a:pPr>
            <a:endParaRPr lang="es-ES" sz="2200" b="0" i="0" u="none" strike="noStrike" cap="none">
              <a:solidFill>
                <a:schemeClr val="tx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 panose="020B0604020202020204" pitchFamily="34" charset="0"/>
              <a:buChar char="•"/>
            </a:pPr>
            <a:r>
              <a:rPr lang="es-ES" sz="2200" b="0" i="0" u="none" strike="noStrike" cap="none">
                <a:solidFill>
                  <a:schemeClr val="tx1"/>
                </a:solidFill>
                <a:latin typeface="Roboto Mono"/>
                <a:ea typeface="Roboto Mono"/>
                <a:cs typeface="Roboto Mono"/>
                <a:sym typeface="Roboto Mono"/>
              </a:rPr>
              <a:t>unsigned (sin signo: cero y positivos)</a:t>
            </a:r>
            <a:endParaRPr sz="2200" b="0" i="0" u="none" strike="noStrike" cap="none">
              <a:solidFill>
                <a:schemeClr val="tx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  <p:extLst>
      <p:ext uri="{BB962C8B-B14F-4D97-AF65-F5344CB8AC3E}">
        <p14:creationId xmlns:p14="http://schemas.microsoft.com/office/powerpoint/2010/main" val="1489927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"/>
          <p:cNvSpPr txBox="1">
            <a:spLocks noGrp="1"/>
          </p:cNvSpPr>
          <p:nvPr>
            <p:ph type="title"/>
          </p:nvPr>
        </p:nvSpPr>
        <p:spPr>
          <a:xfrm>
            <a:off x="329525" y="286600"/>
            <a:ext cx="11574300" cy="8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/>
              <a:t>Variables</a:t>
            </a:r>
            <a:endParaRPr/>
          </a:p>
        </p:txBody>
      </p:sp>
      <p:pic>
        <p:nvPicPr>
          <p:cNvPr id="96" name="Google Shape;96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323850" cy="6867525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3"/>
          <p:cNvSpPr txBox="1"/>
          <p:nvPr/>
        </p:nvSpPr>
        <p:spPr>
          <a:xfrm>
            <a:off x="745067" y="1738489"/>
            <a:ext cx="844408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   edad;</a:t>
            </a:r>
            <a:endParaRPr/>
          </a:p>
        </p:txBody>
      </p:sp>
      <p:sp>
        <p:nvSpPr>
          <p:cNvPr id="98" name="Google Shape;98;p3"/>
          <p:cNvSpPr txBox="1"/>
          <p:nvPr/>
        </p:nvSpPr>
        <p:spPr>
          <a:xfrm>
            <a:off x="745066" y="3769230"/>
            <a:ext cx="844408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edad = 25;</a:t>
            </a:r>
            <a:endParaRPr/>
          </a:p>
        </p:txBody>
      </p:sp>
      <p:sp>
        <p:nvSpPr>
          <p:cNvPr id="99" name="Google Shape;99;p3"/>
          <p:cNvSpPr/>
          <p:nvPr/>
        </p:nvSpPr>
        <p:spPr>
          <a:xfrm>
            <a:off x="914400" y="2200154"/>
            <a:ext cx="146756" cy="272113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25400" cap="flat" cmpd="sng">
            <a:solidFill>
              <a:srgbClr val="4E5E5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3"/>
          <p:cNvSpPr txBox="1"/>
          <p:nvPr/>
        </p:nvSpPr>
        <p:spPr>
          <a:xfrm>
            <a:off x="423333" y="2513655"/>
            <a:ext cx="1275646" cy="584775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Tipo de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dato entero</a:t>
            </a:r>
            <a:endParaRPr/>
          </a:p>
        </p:txBody>
      </p:sp>
      <p:sp>
        <p:nvSpPr>
          <p:cNvPr id="101" name="Google Shape;101;p3"/>
          <p:cNvSpPr/>
          <p:nvPr/>
        </p:nvSpPr>
        <p:spPr>
          <a:xfrm>
            <a:off x="1741706" y="2144889"/>
            <a:ext cx="606383" cy="440267"/>
          </a:xfrm>
          <a:custGeom>
            <a:avLst/>
            <a:gdLst/>
            <a:ahLst/>
            <a:cxnLst/>
            <a:rect l="l" t="t" r="r" b="b"/>
            <a:pathLst>
              <a:path w="606383" h="440267" extrusionOk="0">
                <a:moveTo>
                  <a:pt x="53227" y="0"/>
                </a:moveTo>
                <a:cubicBezTo>
                  <a:pt x="7130" y="98777"/>
                  <a:pt x="-38966" y="197555"/>
                  <a:pt x="53227" y="270933"/>
                </a:cubicBezTo>
                <a:cubicBezTo>
                  <a:pt x="145420" y="344311"/>
                  <a:pt x="375901" y="392289"/>
                  <a:pt x="606383" y="440267"/>
                </a:cubicBezTo>
              </a:path>
            </a:pathLst>
          </a:custGeom>
          <a:noFill/>
          <a:ln w="38100" cap="flat" cmpd="sng">
            <a:solidFill>
              <a:srgbClr val="4E5E5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3"/>
          <p:cNvSpPr txBox="1"/>
          <p:nvPr/>
        </p:nvSpPr>
        <p:spPr>
          <a:xfrm>
            <a:off x="2403519" y="2399916"/>
            <a:ext cx="1275646" cy="584775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Nombre de la variable</a:t>
            </a:r>
            <a:endParaRPr/>
          </a:p>
        </p:txBody>
      </p:sp>
      <p:sp>
        <p:nvSpPr>
          <p:cNvPr id="103" name="Google Shape;103;p3"/>
          <p:cNvSpPr/>
          <p:nvPr/>
        </p:nvSpPr>
        <p:spPr>
          <a:xfrm>
            <a:off x="2403519" y="1885244"/>
            <a:ext cx="599325" cy="180623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25400" cap="flat" cmpd="sng">
            <a:solidFill>
              <a:srgbClr val="4E5E5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3"/>
          <p:cNvSpPr txBox="1"/>
          <p:nvPr/>
        </p:nvSpPr>
        <p:spPr>
          <a:xfrm>
            <a:off x="3128122" y="1676933"/>
            <a:ext cx="2098634" cy="584775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Declaración de la variable</a:t>
            </a:r>
            <a:endParaRPr/>
          </a:p>
        </p:txBody>
      </p:sp>
      <p:sp>
        <p:nvSpPr>
          <p:cNvPr id="105" name="Google Shape;105;p3"/>
          <p:cNvSpPr/>
          <p:nvPr/>
        </p:nvSpPr>
        <p:spPr>
          <a:xfrm>
            <a:off x="530578" y="1556839"/>
            <a:ext cx="1872941" cy="808183"/>
          </a:xfrm>
          <a:prstGeom prst="ellipse">
            <a:avLst/>
          </a:prstGeom>
          <a:noFill/>
          <a:ln w="28575" cap="flat" cmpd="sng">
            <a:solidFill>
              <a:srgbClr val="4E5E5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615245" y="3595971"/>
            <a:ext cx="1872941" cy="808183"/>
          </a:xfrm>
          <a:prstGeom prst="ellipse">
            <a:avLst/>
          </a:prstGeom>
          <a:noFill/>
          <a:ln w="28575" cap="flat" cmpd="sng">
            <a:solidFill>
              <a:srgbClr val="4E5E5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3"/>
          <p:cNvSpPr/>
          <p:nvPr/>
        </p:nvSpPr>
        <p:spPr>
          <a:xfrm>
            <a:off x="2505205" y="3909751"/>
            <a:ext cx="599325" cy="180623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25400" cap="flat" cmpd="sng">
            <a:solidFill>
              <a:srgbClr val="4E5E5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3"/>
          <p:cNvSpPr txBox="1"/>
          <p:nvPr/>
        </p:nvSpPr>
        <p:spPr>
          <a:xfrm>
            <a:off x="3234351" y="3667511"/>
            <a:ext cx="2098634" cy="584775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Asignación de la variable</a:t>
            </a:r>
            <a:endParaRPr/>
          </a:p>
        </p:txBody>
      </p:sp>
      <p:sp>
        <p:nvSpPr>
          <p:cNvPr id="109" name="Google Shape;109;p3"/>
          <p:cNvSpPr/>
          <p:nvPr/>
        </p:nvSpPr>
        <p:spPr>
          <a:xfrm>
            <a:off x="7799159" y="3260342"/>
            <a:ext cx="2460978" cy="991944"/>
          </a:xfrm>
          <a:prstGeom prst="rect">
            <a:avLst/>
          </a:prstGeom>
          <a:solidFill>
            <a:srgbClr val="9A9ADF">
              <a:alpha val="40000"/>
            </a:srgbClr>
          </a:solidFill>
          <a:ln w="25400" cap="flat" cmpd="sng">
            <a:solidFill>
              <a:srgbClr val="4E5E5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3"/>
          <p:cNvSpPr txBox="1"/>
          <p:nvPr/>
        </p:nvSpPr>
        <p:spPr>
          <a:xfrm>
            <a:off x="8432800" y="1960930"/>
            <a:ext cx="1140178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25</a:t>
            </a:r>
            <a:endParaRPr/>
          </a:p>
        </p:txBody>
      </p:sp>
      <p:sp>
        <p:nvSpPr>
          <p:cNvPr id="111" name="Google Shape;111;p3"/>
          <p:cNvSpPr txBox="1"/>
          <p:nvPr/>
        </p:nvSpPr>
        <p:spPr>
          <a:xfrm>
            <a:off x="8607776" y="4119429"/>
            <a:ext cx="142240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edad</a:t>
            </a:r>
            <a:endParaRPr/>
          </a:p>
        </p:txBody>
      </p:sp>
      <p:sp>
        <p:nvSpPr>
          <p:cNvPr id="112" name="Google Shape;112;p3"/>
          <p:cNvSpPr/>
          <p:nvPr/>
        </p:nvSpPr>
        <p:spPr>
          <a:xfrm>
            <a:off x="1494315" y="2013905"/>
            <a:ext cx="6757863" cy="3453200"/>
          </a:xfrm>
          <a:custGeom>
            <a:avLst/>
            <a:gdLst/>
            <a:ahLst/>
            <a:cxnLst/>
            <a:rect l="l" t="t" r="r" b="b"/>
            <a:pathLst>
              <a:path w="6757863" h="3453200" extrusionOk="0">
                <a:moveTo>
                  <a:pt x="52263" y="2388762"/>
                </a:moveTo>
                <a:cubicBezTo>
                  <a:pt x="5226" y="2597606"/>
                  <a:pt x="-41811" y="2806451"/>
                  <a:pt x="63552" y="2953206"/>
                </a:cubicBezTo>
                <a:cubicBezTo>
                  <a:pt x="168915" y="3099962"/>
                  <a:pt x="-22996" y="3214732"/>
                  <a:pt x="684441" y="3269295"/>
                </a:cubicBezTo>
                <a:cubicBezTo>
                  <a:pt x="1391878" y="3323858"/>
                  <a:pt x="3576278" y="3647473"/>
                  <a:pt x="4308174" y="3280584"/>
                </a:cubicBezTo>
                <a:cubicBezTo>
                  <a:pt x="5040070" y="2913695"/>
                  <a:pt x="4836870" y="1596658"/>
                  <a:pt x="5075818" y="1067962"/>
                </a:cubicBezTo>
                <a:cubicBezTo>
                  <a:pt x="5314766" y="539266"/>
                  <a:pt x="5461522" y="275858"/>
                  <a:pt x="5741863" y="108406"/>
                </a:cubicBezTo>
                <a:cubicBezTo>
                  <a:pt x="6022204" y="-59046"/>
                  <a:pt x="6390033" y="2102"/>
                  <a:pt x="6757863" y="63251"/>
                </a:cubicBezTo>
              </a:path>
            </a:pathLst>
          </a:custGeom>
          <a:noFill/>
          <a:ln w="57150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>
          <a:extLst>
            <a:ext uri="{FF2B5EF4-FFF2-40B4-BE49-F238E27FC236}">
              <a16:creationId xmlns:a16="http://schemas.microsoft.com/office/drawing/2014/main" id="{98447876-3E6F-981A-29C6-5B4C86950C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">
            <a:extLst>
              <a:ext uri="{FF2B5EF4-FFF2-40B4-BE49-F238E27FC236}">
                <a16:creationId xmlns:a16="http://schemas.microsoft.com/office/drawing/2014/main" id="{BA427A3B-7B62-B533-AC5E-063F8319820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323850" cy="6867526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">
            <a:extLst>
              <a:ext uri="{FF2B5EF4-FFF2-40B4-BE49-F238E27FC236}">
                <a16:creationId xmlns:a16="http://schemas.microsoft.com/office/drawing/2014/main" id="{039452A6-431D-E225-DCFE-BCEAB4E940B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7000" y="294173"/>
            <a:ext cx="11399631" cy="8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397"/>
              <a:buFont typeface="Arial"/>
              <a:buNone/>
            </a:pPr>
            <a:r>
              <a:rPr lang="en-US" sz="2720">
                <a:solidFill>
                  <a:schemeClr val="lt1"/>
                </a:solidFill>
                <a:latin typeface="Roboto Mono ExtraLight"/>
                <a:ea typeface="Roboto Mono ExtraLight"/>
                <a:cs typeface="Roboto Mono ExtraLight"/>
                <a:sym typeface="Roboto Mono ExtraLight"/>
              </a:rPr>
              <a:t>Bien, comencemos…</a:t>
            </a:r>
            <a:endParaRPr sz="2720">
              <a:solidFill>
                <a:schemeClr val="lt1"/>
              </a:solidFill>
              <a:latin typeface="Roboto Mono ExtraLight"/>
              <a:ea typeface="Roboto Mono ExtraLight"/>
              <a:cs typeface="Roboto Mono ExtraLight"/>
              <a:sym typeface="Roboto Mono ExtraLight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397"/>
              <a:buFont typeface="Arial"/>
              <a:buNone/>
            </a:pPr>
            <a:r>
              <a:rPr lang="en-US" sz="2720">
                <a:solidFill>
                  <a:schemeClr val="lt1"/>
                </a:solidFill>
                <a:latin typeface="Roboto Mono ExtraLight"/>
                <a:ea typeface="Roboto Mono ExtraLight"/>
                <a:cs typeface="Roboto Mono ExtraLight"/>
                <a:sym typeface="Roboto Mono ExtraLight"/>
              </a:rPr>
              <a:t>Bien, comencemos…</a:t>
            </a:r>
            <a:endParaRPr sz="2720">
              <a:solidFill>
                <a:schemeClr val="lt1"/>
              </a:solidFill>
              <a:latin typeface="Roboto Mono ExtraLight"/>
              <a:ea typeface="Roboto Mono ExtraLight"/>
              <a:cs typeface="Roboto Mono ExtraLight"/>
              <a:sym typeface="Roboto Mono ExtraLight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397"/>
              <a:buFont typeface="Arial"/>
              <a:buNone/>
            </a:pPr>
            <a:r>
              <a:rPr lang="en-US" sz="2720">
                <a:solidFill>
                  <a:schemeClr val="lt1"/>
                </a:solidFill>
                <a:latin typeface="Roboto Mono ExtraLight"/>
                <a:ea typeface="Roboto Mono ExtraLight"/>
                <a:cs typeface="Roboto Mono ExtraLight"/>
                <a:sym typeface="Roboto Mono ExtraLight"/>
              </a:rPr>
              <a:t>Bien, comencemos…</a:t>
            </a:r>
            <a:endParaRPr sz="2720">
              <a:solidFill>
                <a:schemeClr val="lt1"/>
              </a:solidFill>
              <a:latin typeface="Roboto Mono ExtraLight"/>
              <a:ea typeface="Roboto Mono ExtraLight"/>
              <a:cs typeface="Roboto Mono ExtraLight"/>
              <a:sym typeface="Roboto Mono ExtraLight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397"/>
              <a:buFont typeface="Arial"/>
              <a:buNone/>
            </a:pPr>
            <a:r>
              <a:rPr lang="en-US" sz="2720">
                <a:solidFill>
                  <a:schemeClr val="lt1"/>
                </a:solidFill>
                <a:latin typeface="Roboto Mono ExtraLight"/>
                <a:ea typeface="Roboto Mono ExtraLight"/>
                <a:cs typeface="Roboto Mono ExtraLight"/>
                <a:sym typeface="Roboto Mono ExtraLight"/>
              </a:rPr>
              <a:t>Bien, comencemos…</a:t>
            </a:r>
            <a:endParaRPr sz="2720">
              <a:solidFill>
                <a:schemeClr val="lt1"/>
              </a:solidFill>
              <a:latin typeface="Roboto Mono ExtraLight"/>
              <a:ea typeface="Roboto Mono ExtraLight"/>
              <a:cs typeface="Roboto Mono ExtraLight"/>
              <a:sym typeface="Roboto Mono ExtraLight"/>
            </a:endParaRPr>
          </a:p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20000"/>
              <a:buFont typeface="Calibri"/>
              <a:buNone/>
            </a:pPr>
            <a:r>
              <a:rPr lang="es-ES"/>
              <a:t>Constantes</a:t>
            </a:r>
            <a:endParaRPr/>
          </a:p>
        </p:txBody>
      </p:sp>
      <p:sp>
        <p:nvSpPr>
          <p:cNvPr id="6" name="Google Shape;117;p1">
            <a:extLst>
              <a:ext uri="{FF2B5EF4-FFF2-40B4-BE49-F238E27FC236}">
                <a16:creationId xmlns:a16="http://schemas.microsoft.com/office/drawing/2014/main" id="{531195FA-E3D0-6007-7AFF-3101AB706408}"/>
              </a:ext>
            </a:extLst>
          </p:cNvPr>
          <p:cNvSpPr txBox="1"/>
          <p:nvPr/>
        </p:nvSpPr>
        <p:spPr>
          <a:xfrm>
            <a:off x="680100" y="1587525"/>
            <a:ext cx="11511900" cy="2893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</a:pPr>
            <a:r>
              <a:rPr lang="es-ES" sz="2200" b="0" i="0" u="none" strike="noStrike" cap="none">
                <a:solidFill>
                  <a:schemeClr val="tx1"/>
                </a:solidFill>
                <a:latin typeface="Roboto Mono"/>
                <a:ea typeface="Roboto Mono"/>
                <a:cs typeface="Roboto Mono"/>
                <a:sym typeface="Roboto Mono"/>
              </a:rPr>
              <a:t>#define NOMBRE_CONSTANTE VALOR</a:t>
            </a: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</a:pPr>
            <a:endParaRPr lang="es-ES" sz="2200">
              <a:solidFill>
                <a:schemeClr val="tx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</a:pPr>
            <a:r>
              <a:rPr lang="es-ES" sz="2200" b="0" i="0" u="none" strike="noStrike" cap="none">
                <a:solidFill>
                  <a:schemeClr val="tx1"/>
                </a:solidFill>
                <a:latin typeface="Roboto Mono"/>
                <a:ea typeface="Roboto Mono"/>
                <a:cs typeface="Roboto Mono"/>
                <a:sym typeface="Roboto Mono"/>
              </a:rPr>
              <a:t>Ejemplo:</a:t>
            </a: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</a:pPr>
            <a:endParaRPr lang="es-ES" sz="2200">
              <a:solidFill>
                <a:schemeClr val="tx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</a:pPr>
            <a:r>
              <a:rPr lang="es-ES" sz="2200" b="0" i="0" u="none" strike="noStrike" cap="none">
                <a:solidFill>
                  <a:schemeClr val="tx1"/>
                </a:solidFill>
                <a:latin typeface="Roboto Mono"/>
                <a:ea typeface="Roboto Mono"/>
                <a:cs typeface="Roboto Mono"/>
                <a:sym typeface="Roboto Mono"/>
              </a:rPr>
              <a:t>#define IVA 21</a:t>
            </a: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</a:pPr>
            <a:endParaRPr lang="es-ES" sz="2200">
              <a:solidFill>
                <a:schemeClr val="tx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</a:pPr>
            <a:r>
              <a:rPr lang="es-ES" sz="2200" b="0" i="0" u="none" strike="noStrike" cap="none">
                <a:solidFill>
                  <a:schemeClr val="tx1"/>
                </a:solidFill>
                <a:latin typeface="Roboto Mono"/>
                <a:ea typeface="Roboto Mono"/>
                <a:cs typeface="Roboto Mono"/>
                <a:sym typeface="Roboto Mono"/>
              </a:rPr>
              <a:t>// uso:</a:t>
            </a: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</a:pPr>
            <a:r>
              <a:rPr lang="es-ES" sz="2200">
                <a:solidFill>
                  <a:schemeClr val="tx1"/>
                </a:solidFill>
                <a:latin typeface="Roboto Mono"/>
                <a:ea typeface="Roboto Mono"/>
                <a:cs typeface="Roboto Mono"/>
                <a:sym typeface="Roboto Mono"/>
              </a:rPr>
              <a:t>int precio_final = precio * (100 + IVA) / 100;</a:t>
            </a:r>
            <a:endParaRPr sz="2200" b="0" i="0" u="none" strike="noStrike" cap="none">
              <a:solidFill>
                <a:schemeClr val="tx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  <p:extLst>
      <p:ext uri="{BB962C8B-B14F-4D97-AF65-F5344CB8AC3E}">
        <p14:creationId xmlns:p14="http://schemas.microsoft.com/office/powerpoint/2010/main" val="3855214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>
          <a:extLst>
            <a:ext uri="{FF2B5EF4-FFF2-40B4-BE49-F238E27FC236}">
              <a16:creationId xmlns:a16="http://schemas.microsoft.com/office/drawing/2014/main" id="{21482846-03B2-5781-A227-61A2B1C57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">
            <a:extLst>
              <a:ext uri="{FF2B5EF4-FFF2-40B4-BE49-F238E27FC236}">
                <a16:creationId xmlns:a16="http://schemas.microsoft.com/office/drawing/2014/main" id="{ABE03D18-6CF2-E75A-65F5-AD99710CC9C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323850" cy="6867526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">
            <a:extLst>
              <a:ext uri="{FF2B5EF4-FFF2-40B4-BE49-F238E27FC236}">
                <a16:creationId xmlns:a16="http://schemas.microsoft.com/office/drawing/2014/main" id="{185F03D5-25AD-34E6-D214-5D199CABE4B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7000" y="294173"/>
            <a:ext cx="11399631" cy="8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397"/>
              <a:buFont typeface="Arial"/>
              <a:buNone/>
            </a:pPr>
            <a:r>
              <a:rPr lang="en-US" sz="2720">
                <a:solidFill>
                  <a:schemeClr val="lt1"/>
                </a:solidFill>
                <a:latin typeface="Roboto Mono ExtraLight"/>
                <a:ea typeface="Roboto Mono ExtraLight"/>
                <a:cs typeface="Roboto Mono ExtraLight"/>
                <a:sym typeface="Roboto Mono ExtraLight"/>
              </a:rPr>
              <a:t>Bien, comencemos…</a:t>
            </a:r>
            <a:endParaRPr sz="2720">
              <a:solidFill>
                <a:schemeClr val="lt1"/>
              </a:solidFill>
              <a:latin typeface="Roboto Mono ExtraLight"/>
              <a:ea typeface="Roboto Mono ExtraLight"/>
              <a:cs typeface="Roboto Mono ExtraLight"/>
              <a:sym typeface="Roboto Mono ExtraLight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397"/>
              <a:buFont typeface="Arial"/>
              <a:buNone/>
            </a:pPr>
            <a:r>
              <a:rPr lang="en-US" sz="2720">
                <a:solidFill>
                  <a:schemeClr val="lt1"/>
                </a:solidFill>
                <a:latin typeface="Roboto Mono ExtraLight"/>
                <a:ea typeface="Roboto Mono ExtraLight"/>
                <a:cs typeface="Roboto Mono ExtraLight"/>
                <a:sym typeface="Roboto Mono ExtraLight"/>
              </a:rPr>
              <a:t>Bien, comencemos…</a:t>
            </a:r>
            <a:endParaRPr sz="2720">
              <a:solidFill>
                <a:schemeClr val="lt1"/>
              </a:solidFill>
              <a:latin typeface="Roboto Mono ExtraLight"/>
              <a:ea typeface="Roboto Mono ExtraLight"/>
              <a:cs typeface="Roboto Mono ExtraLight"/>
              <a:sym typeface="Roboto Mono ExtraLight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397"/>
              <a:buFont typeface="Arial"/>
              <a:buNone/>
            </a:pPr>
            <a:r>
              <a:rPr lang="en-US" sz="2720">
                <a:solidFill>
                  <a:schemeClr val="lt1"/>
                </a:solidFill>
                <a:latin typeface="Roboto Mono ExtraLight"/>
                <a:ea typeface="Roboto Mono ExtraLight"/>
                <a:cs typeface="Roboto Mono ExtraLight"/>
                <a:sym typeface="Roboto Mono ExtraLight"/>
              </a:rPr>
              <a:t>Bien, comencemos…</a:t>
            </a:r>
            <a:endParaRPr sz="2720">
              <a:solidFill>
                <a:schemeClr val="lt1"/>
              </a:solidFill>
              <a:latin typeface="Roboto Mono ExtraLight"/>
              <a:ea typeface="Roboto Mono ExtraLight"/>
              <a:cs typeface="Roboto Mono ExtraLight"/>
              <a:sym typeface="Roboto Mono ExtraLight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397"/>
              <a:buFont typeface="Arial"/>
              <a:buNone/>
            </a:pPr>
            <a:r>
              <a:rPr lang="en-US" sz="2720">
                <a:solidFill>
                  <a:schemeClr val="lt1"/>
                </a:solidFill>
                <a:latin typeface="Roboto Mono ExtraLight"/>
                <a:ea typeface="Roboto Mono ExtraLight"/>
                <a:cs typeface="Roboto Mono ExtraLight"/>
                <a:sym typeface="Roboto Mono ExtraLight"/>
              </a:rPr>
              <a:t>Bien, comencemos…</a:t>
            </a:r>
            <a:endParaRPr sz="2720">
              <a:solidFill>
                <a:schemeClr val="lt1"/>
              </a:solidFill>
              <a:latin typeface="Roboto Mono ExtraLight"/>
              <a:ea typeface="Roboto Mono ExtraLight"/>
              <a:cs typeface="Roboto Mono ExtraLight"/>
              <a:sym typeface="Roboto Mono ExtraLight"/>
            </a:endParaRPr>
          </a:p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20000"/>
              <a:buFont typeface="Calibri"/>
              <a:buNone/>
            </a:pPr>
            <a:r>
              <a:rPr lang="es-ES"/>
              <a:t>Ingreso de datos por teclado</a:t>
            </a:r>
            <a:endParaRPr/>
          </a:p>
        </p:txBody>
      </p:sp>
      <p:sp>
        <p:nvSpPr>
          <p:cNvPr id="6" name="Google Shape;117;p1">
            <a:extLst>
              <a:ext uri="{FF2B5EF4-FFF2-40B4-BE49-F238E27FC236}">
                <a16:creationId xmlns:a16="http://schemas.microsoft.com/office/drawing/2014/main" id="{305AC5DA-C50C-4643-C31F-EBCD6A43EF49}"/>
              </a:ext>
            </a:extLst>
          </p:cNvPr>
          <p:cNvSpPr txBox="1"/>
          <p:nvPr/>
        </p:nvSpPr>
        <p:spPr>
          <a:xfrm>
            <a:off x="680100" y="1587525"/>
            <a:ext cx="11511900" cy="3908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 panose="020B0604020202020204" pitchFamily="34" charset="0"/>
              <a:buChar char="•"/>
            </a:pPr>
            <a:r>
              <a:rPr lang="es-ES" sz="2200" b="0" i="0" u="none" strike="noStrike" cap="none">
                <a:solidFill>
                  <a:schemeClr val="tx1"/>
                </a:solidFill>
                <a:latin typeface="Roboto Mono"/>
                <a:ea typeface="Roboto Mono"/>
                <a:cs typeface="Roboto Mono"/>
                <a:sym typeface="Roboto Mono"/>
              </a:rPr>
              <a:t>Se lee con scanf, pero la variable debe ser un puntero (&amp;).</a:t>
            </a: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 panose="020B0604020202020204" pitchFamily="34" charset="0"/>
              <a:buChar char="•"/>
            </a:pPr>
            <a:r>
              <a:rPr lang="es-ES" sz="2200">
                <a:solidFill>
                  <a:schemeClr val="tx1"/>
                </a:solidFill>
                <a:latin typeface="Roboto Mono"/>
                <a:ea typeface="Roboto Mono"/>
                <a:cs typeface="Roboto Mono"/>
                <a:sym typeface="Roboto Mono"/>
              </a:rPr>
              <a:t>%i para entero</a:t>
            </a: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 panose="020B0604020202020204" pitchFamily="34" charset="0"/>
              <a:buChar char="•"/>
            </a:pPr>
            <a:r>
              <a:rPr lang="es-ES" sz="2200" b="0" i="0" u="none" strike="noStrike" cap="none">
                <a:solidFill>
                  <a:schemeClr val="tx1"/>
                </a:solidFill>
                <a:latin typeface="Roboto Mono"/>
                <a:ea typeface="Roboto Mono"/>
                <a:cs typeface="Roboto Mono"/>
                <a:sym typeface="Roboto Mono"/>
              </a:rPr>
              <a:t>%c para char</a:t>
            </a: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 panose="020B0604020202020204" pitchFamily="34" charset="0"/>
              <a:buChar char="•"/>
            </a:pPr>
            <a:r>
              <a:rPr lang="es-ES" sz="2200">
                <a:solidFill>
                  <a:schemeClr val="tx1"/>
                </a:solidFill>
                <a:latin typeface="Roboto Mono"/>
                <a:ea typeface="Roboto Mono"/>
                <a:cs typeface="Roboto Mono"/>
                <a:sym typeface="Roboto Mono"/>
              </a:rPr>
              <a:t>%f para flotante</a:t>
            </a:r>
            <a:endParaRPr lang="es-ES" sz="2200" b="0" i="0" u="none" strike="noStrike" cap="none">
              <a:solidFill>
                <a:schemeClr val="tx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 panose="020B0604020202020204" pitchFamily="34" charset="0"/>
              <a:buChar char="•"/>
            </a:pPr>
            <a:r>
              <a:rPr lang="es-ES" sz="2200">
                <a:solidFill>
                  <a:schemeClr val="tx1"/>
                </a:solidFill>
                <a:latin typeface="Roboto Mono"/>
                <a:ea typeface="Roboto Mono"/>
                <a:cs typeface="Roboto Mono"/>
                <a:sym typeface="Roboto Mono"/>
              </a:rPr>
              <a:t>Ejemplo:</a:t>
            </a: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 panose="020B0604020202020204" pitchFamily="34" charset="0"/>
              <a:buChar char="•"/>
            </a:pPr>
            <a:endParaRPr lang="es-ES" sz="2200" b="0" i="0" u="none" strike="noStrike" cap="none">
              <a:solidFill>
                <a:schemeClr val="tx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</a:pPr>
            <a:r>
              <a:rPr lang="es-ES" sz="2200">
                <a:solidFill>
                  <a:schemeClr val="tx1"/>
                </a:solidFill>
                <a:latin typeface="Roboto Mono"/>
                <a:ea typeface="Roboto Mono"/>
                <a:cs typeface="Roboto Mono"/>
                <a:sym typeface="Roboto Mono"/>
              </a:rPr>
              <a:t>int x;</a:t>
            </a: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</a:pPr>
            <a:r>
              <a:rPr lang="es-ES" sz="2200" b="0" i="0" u="none" strike="noStrike" cap="none">
                <a:solidFill>
                  <a:schemeClr val="tx1"/>
                </a:solidFill>
                <a:latin typeface="Roboto Mono"/>
                <a:ea typeface="Roboto Mono"/>
                <a:cs typeface="Roboto Mono"/>
                <a:sym typeface="Roboto Mono"/>
              </a:rPr>
              <a:t>printf(“ingrese el valor de x: “);</a:t>
            </a: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</a:pPr>
            <a:r>
              <a:rPr lang="es-ES" sz="2200">
                <a:solidFill>
                  <a:schemeClr val="tx1"/>
                </a:solidFill>
                <a:latin typeface="Roboto Mono"/>
                <a:ea typeface="Roboto Mono"/>
                <a:cs typeface="Roboto Mono"/>
                <a:sym typeface="Roboto Mono"/>
              </a:rPr>
              <a:t>scanf(“%i”, &amp;x);</a:t>
            </a:r>
          </a:p>
          <a:p>
            <a:pPr>
              <a:buSzPts val="2200"/>
            </a:pPr>
            <a:r>
              <a:rPr lang="es-ES" sz="2200">
                <a:solidFill>
                  <a:schemeClr val="tx1"/>
                </a:solidFill>
                <a:latin typeface="Roboto Mono"/>
                <a:ea typeface="Roboto Mono"/>
                <a:cs typeface="Roboto Mono"/>
                <a:sym typeface="Roboto Mono"/>
              </a:rPr>
              <a:t>printf(“x vale: %i“, x);</a:t>
            </a: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</a:pPr>
            <a:endParaRPr sz="2200" b="0" i="0" u="none" strike="noStrike" cap="none">
              <a:solidFill>
                <a:schemeClr val="tx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  <p:extLst>
      <p:ext uri="{BB962C8B-B14F-4D97-AF65-F5344CB8AC3E}">
        <p14:creationId xmlns:p14="http://schemas.microsoft.com/office/powerpoint/2010/main" val="3099989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2"/>
          <p:cNvSpPr txBox="1">
            <a:spLocks noGrp="1"/>
          </p:cNvSpPr>
          <p:nvPr>
            <p:ph type="title"/>
          </p:nvPr>
        </p:nvSpPr>
        <p:spPr>
          <a:xfrm>
            <a:off x="329525" y="286600"/>
            <a:ext cx="11574300" cy="8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/>
              <a:t>Operadores de asignación</a:t>
            </a:r>
            <a:endParaRPr/>
          </a:p>
        </p:txBody>
      </p:sp>
      <p:pic>
        <p:nvPicPr>
          <p:cNvPr id="82" name="Google Shape;82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323850" cy="6867525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22"/>
          <p:cNvSpPr txBox="1"/>
          <p:nvPr/>
        </p:nvSpPr>
        <p:spPr>
          <a:xfrm>
            <a:off x="824089" y="1828800"/>
            <a:ext cx="10329333" cy="1169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El operador de asignación es el “=“. Asigna la expresión del lado derecho a la del lado izquierdo (por lo general, será una variable).</a:t>
            </a:r>
            <a:endParaRPr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2"/>
          <p:cNvSpPr txBox="1"/>
          <p:nvPr/>
        </p:nvSpPr>
        <p:spPr>
          <a:xfrm>
            <a:off x="824089" y="3415287"/>
            <a:ext cx="10329333" cy="2215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Formas abreviadas de expresiones de asignación: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acumulador = acumulador + cuenta; 	// Forma expandida</a:t>
            </a:r>
            <a:endParaRPr sz="2000" b="0" i="0" u="none" strike="noStrike" cap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acumulador += cuenta; 			// Forma abreviada</a:t>
            </a:r>
            <a:endParaRPr sz="2000" b="0" i="0" u="none" strike="noStrike" cap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8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8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>
            <a:spLocks noGrp="1"/>
          </p:cNvSpPr>
          <p:nvPr>
            <p:ph type="title"/>
          </p:nvPr>
        </p:nvSpPr>
        <p:spPr>
          <a:xfrm>
            <a:off x="329525" y="286600"/>
            <a:ext cx="11574300" cy="8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/>
              <a:t>Operadores aritméticos</a:t>
            </a:r>
            <a:endParaRPr/>
          </a:p>
        </p:txBody>
      </p:sp>
      <p:pic>
        <p:nvPicPr>
          <p:cNvPr id="90" name="Google Shape;90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323850" cy="6867525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"/>
          <p:cNvSpPr txBox="1"/>
          <p:nvPr/>
        </p:nvSpPr>
        <p:spPr>
          <a:xfrm>
            <a:off x="824089" y="1828800"/>
            <a:ext cx="2833511" cy="4185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+ suma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– resta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* Multiplicación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/ división 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% resto</a:t>
            </a:r>
            <a:endParaRPr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4889501" y="1828800"/>
            <a:ext cx="6426200" cy="1600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 / realiza la división entera si los dos valores son enteros. Si hubiera un valor de tipo flotante, realiza la división flotante.</a:t>
            </a:r>
            <a:endParaRPr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4889501" y="3530600"/>
            <a:ext cx="6426200" cy="203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Ejemplos: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double x = 20 / 6; 		// x vale 3.0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double x = 20.0 / 6;	// x vale 3.3333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 x = 20 % 6;		// x vale 2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"/>
          <p:cNvSpPr txBox="1">
            <a:spLocks noGrp="1"/>
          </p:cNvSpPr>
          <p:nvPr>
            <p:ph type="title"/>
          </p:nvPr>
        </p:nvSpPr>
        <p:spPr>
          <a:xfrm>
            <a:off x="329525" y="286600"/>
            <a:ext cx="11574300" cy="8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/>
              <a:t>Incremento – decremento </a:t>
            </a:r>
            <a:endParaRPr/>
          </a:p>
        </p:txBody>
      </p:sp>
      <p:pic>
        <p:nvPicPr>
          <p:cNvPr id="99" name="Google Shape;99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323850" cy="6867525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3"/>
          <p:cNvSpPr txBox="1"/>
          <p:nvPr/>
        </p:nvSpPr>
        <p:spPr>
          <a:xfrm>
            <a:off x="824089" y="1828800"/>
            <a:ext cx="2833511" cy="2462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++ </a:t>
            </a:r>
            <a:r>
              <a:rPr lang="en-US" sz="2800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incrementa</a:t>
            </a:r>
            <a:r>
              <a:rPr lang="en-US" sz="28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1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– – </a:t>
            </a:r>
            <a:r>
              <a:rPr lang="en-US" sz="2800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decrementa</a:t>
            </a:r>
            <a:r>
              <a:rPr lang="en-US" sz="28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1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(doble </a:t>
            </a:r>
            <a:r>
              <a:rPr lang="en-US" sz="2800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menos</a:t>
            </a:r>
            <a:r>
              <a:rPr lang="en-US" sz="28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3"/>
          <p:cNvSpPr txBox="1"/>
          <p:nvPr/>
        </p:nvSpPr>
        <p:spPr>
          <a:xfrm>
            <a:off x="4889501" y="1828800"/>
            <a:ext cx="6426200" cy="1169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 x = 5;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x++; 		// x vale 6</a:t>
            </a:r>
            <a:endParaRPr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3"/>
          <p:cNvSpPr txBox="1"/>
          <p:nvPr/>
        </p:nvSpPr>
        <p:spPr>
          <a:xfrm>
            <a:off x="4889501" y="3530600"/>
            <a:ext cx="6426200" cy="1169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 x = 5;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x--; 		// x vale 4</a:t>
            </a:r>
            <a:endParaRPr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"/>
          <p:cNvSpPr txBox="1">
            <a:spLocks noGrp="1"/>
          </p:cNvSpPr>
          <p:nvPr>
            <p:ph type="title"/>
          </p:nvPr>
        </p:nvSpPr>
        <p:spPr>
          <a:xfrm>
            <a:off x="329525" y="286600"/>
            <a:ext cx="11574300" cy="8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/>
              <a:t>Relacionales y de igualdad</a:t>
            </a:r>
            <a:endParaRPr/>
          </a:p>
        </p:txBody>
      </p:sp>
      <p:pic>
        <p:nvPicPr>
          <p:cNvPr id="108" name="Google Shape;108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323850" cy="6867525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4"/>
          <p:cNvSpPr txBox="1"/>
          <p:nvPr/>
        </p:nvSpPr>
        <p:spPr>
          <a:xfrm>
            <a:off x="824089" y="1828800"/>
            <a:ext cx="2833511" cy="28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&gt; mayor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&gt;= mayor o igual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&lt; menor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&lt;= menor o igual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== igual 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!= distinto</a:t>
            </a:r>
            <a:endParaRPr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4"/>
          <p:cNvSpPr txBox="1"/>
          <p:nvPr/>
        </p:nvSpPr>
        <p:spPr>
          <a:xfrm>
            <a:off x="4889501" y="1828800"/>
            <a:ext cx="6426200" cy="1169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 x = 5;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 == 5		// devuelve true (verdadero)</a:t>
            </a:r>
            <a:endParaRPr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4"/>
          <p:cNvSpPr txBox="1"/>
          <p:nvPr/>
        </p:nvSpPr>
        <p:spPr>
          <a:xfrm>
            <a:off x="4889501" y="3216950"/>
            <a:ext cx="6426200" cy="1169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 x = 5;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 &gt;= 7 	// devuelve false</a:t>
            </a:r>
            <a:endParaRPr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4"/>
          <p:cNvSpPr txBox="1"/>
          <p:nvPr/>
        </p:nvSpPr>
        <p:spPr>
          <a:xfrm>
            <a:off x="4889501" y="4556800"/>
            <a:ext cx="6426200" cy="1600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 x = 5;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 != 7 		// devuelve true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 != 5		// devuelve false</a:t>
            </a:r>
            <a:endParaRPr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"/>
          <p:cNvSpPr txBox="1">
            <a:spLocks noGrp="1"/>
          </p:cNvSpPr>
          <p:nvPr>
            <p:ph type="title"/>
          </p:nvPr>
        </p:nvSpPr>
        <p:spPr>
          <a:xfrm>
            <a:off x="329525" y="286600"/>
            <a:ext cx="11574300" cy="8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/>
              <a:t>Lógicos</a:t>
            </a:r>
            <a:endParaRPr/>
          </a:p>
        </p:txBody>
      </p:sp>
      <p:pic>
        <p:nvPicPr>
          <p:cNvPr id="128" name="Google Shape;128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323850" cy="686752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6"/>
          <p:cNvSpPr txBox="1"/>
          <p:nvPr/>
        </p:nvSpPr>
        <p:spPr>
          <a:xfrm>
            <a:off x="773288" y="2894806"/>
            <a:ext cx="3366911" cy="2462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&amp;&amp; and (conjunción)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|| or (disyunción)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!  not (negación)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6"/>
          <p:cNvSpPr txBox="1"/>
          <p:nvPr/>
        </p:nvSpPr>
        <p:spPr>
          <a:xfrm>
            <a:off x="5041901" y="2894012"/>
            <a:ext cx="6426200" cy="3323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 x = 5;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 &gt;= 7 			// devuelve false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! (x &gt;= 7) 			// devuelve true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(x &gt; 7) || ((x % 2) == 1) 	// devuelve true</a:t>
            </a:r>
            <a:endParaRPr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(x &lt; 7) &amp;&amp; ((x % 2) == 0) 	// devuelve false</a:t>
            </a:r>
            <a:endParaRPr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6"/>
          <p:cNvSpPr txBox="1"/>
          <p:nvPr/>
        </p:nvSpPr>
        <p:spPr>
          <a:xfrm>
            <a:off x="773288" y="1419200"/>
            <a:ext cx="10263011" cy="1169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Comparan expresiones booleanas y devuelven otra expresión booleana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"/>
          <p:cNvSpPr txBox="1">
            <a:spLocks noGrp="1"/>
          </p:cNvSpPr>
          <p:nvPr>
            <p:ph type="title"/>
          </p:nvPr>
        </p:nvSpPr>
        <p:spPr>
          <a:xfrm>
            <a:off x="329525" y="286600"/>
            <a:ext cx="11574300" cy="8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/>
              <a:t>Tablas de verdad</a:t>
            </a:r>
            <a:endParaRPr/>
          </a:p>
        </p:txBody>
      </p:sp>
      <p:pic>
        <p:nvPicPr>
          <p:cNvPr id="118" name="Google Shape;118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323850" cy="68675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9" name="Google Shape;119;p5"/>
          <p:cNvGraphicFramePr/>
          <p:nvPr/>
        </p:nvGraphicFramePr>
        <p:xfrm>
          <a:off x="890657" y="2663871"/>
          <a:ext cx="2614550" cy="111255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217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A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! A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V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V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0" name="Google Shape;120;p5"/>
          <p:cNvSpPr txBox="1"/>
          <p:nvPr/>
        </p:nvSpPr>
        <p:spPr>
          <a:xfrm>
            <a:off x="890657" y="1925207"/>
            <a:ext cx="2046112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Negación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21" name="Google Shape;121;p5"/>
          <p:cNvGraphicFramePr/>
          <p:nvPr/>
        </p:nvGraphicFramePr>
        <p:xfrm>
          <a:off x="5462656" y="2663871"/>
          <a:ext cx="3935350" cy="185425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900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1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1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1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A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B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A &amp;&amp; B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A || B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V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V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V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V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V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V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V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V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F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2" name="Google Shape;122;p5"/>
          <p:cNvSpPr txBox="1"/>
          <p:nvPr/>
        </p:nvSpPr>
        <p:spPr>
          <a:xfrm>
            <a:off x="5462656" y="1925207"/>
            <a:ext cx="4113143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Conjunción y disyunción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2"/>
          <p:cNvSpPr txBox="1">
            <a:spLocks noGrp="1"/>
          </p:cNvSpPr>
          <p:nvPr>
            <p:ph type="title"/>
          </p:nvPr>
        </p:nvSpPr>
        <p:spPr>
          <a:xfrm>
            <a:off x="329525" y="286600"/>
            <a:ext cx="11574300" cy="8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/>
              <a:t>Estructuras condicionales</a:t>
            </a:r>
            <a:endParaRPr/>
          </a:p>
        </p:txBody>
      </p:sp>
      <p:pic>
        <p:nvPicPr>
          <p:cNvPr id="83" name="Google Shape;83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323850" cy="6867525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22"/>
          <p:cNvSpPr txBox="1"/>
          <p:nvPr/>
        </p:nvSpPr>
        <p:spPr>
          <a:xfrm>
            <a:off x="711200" y="1643001"/>
            <a:ext cx="10171289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Las estructuras condicionales o selectivas se utilizan cuando debemos ejecutar una o más instrucciones dependiendo de cierta condición. 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22"/>
          <p:cNvSpPr txBox="1"/>
          <p:nvPr/>
        </p:nvSpPr>
        <p:spPr>
          <a:xfrm>
            <a:off x="835378" y="2984400"/>
            <a:ext cx="10171289" cy="2585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2E5395"/>
                </a:solidFill>
                <a:latin typeface="Calibri"/>
                <a:ea typeface="Calibri"/>
                <a:cs typeface="Calibri"/>
                <a:sym typeface="Calibri"/>
              </a:rPr>
              <a:t>if - else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2E539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El if (si) pregunta por cierta condición, si es verdadera, ejecuta la instrucción que le sigue, si no, va a la rama del else (esta rama es optativa).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if (condicion)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sentencia1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else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sentencia2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 txBox="1">
            <a:spLocks noGrp="1"/>
          </p:cNvSpPr>
          <p:nvPr>
            <p:ph type="title"/>
          </p:nvPr>
        </p:nvSpPr>
        <p:spPr>
          <a:xfrm>
            <a:off x="329525" y="286600"/>
            <a:ext cx="11574300" cy="8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/>
              <a:t>Estructuras condicionales – ejemplos </a:t>
            </a:r>
            <a:endParaRPr/>
          </a:p>
        </p:txBody>
      </p:sp>
      <p:pic>
        <p:nvPicPr>
          <p:cNvPr id="91" name="Google Shape;91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323850" cy="6867525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"/>
          <p:cNvSpPr txBox="1"/>
          <p:nvPr/>
        </p:nvSpPr>
        <p:spPr>
          <a:xfrm>
            <a:off x="657684" y="1686561"/>
            <a:ext cx="2968978" cy="1754326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// Ejemplo1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// if – else simple</a:t>
            </a:r>
            <a:endParaRPr sz="1800" b="0" i="0" u="none" strike="noStrike" cap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if (x &gt; 5)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y = x + 2;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else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y = x * x; 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4248257" y="1691738"/>
            <a:ext cx="3636858" cy="2585323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// Ejemplo3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// Más de una instrucción</a:t>
            </a:r>
            <a:endParaRPr sz="1800" b="0" i="0" u="none" strike="noStrike" cap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if (x &gt; 5) {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y = x + 2;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y = x * x;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else {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y = x + 5;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891929" y="4444069"/>
            <a:ext cx="2500488" cy="1200329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// Ejemplo2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// Sin else</a:t>
            </a:r>
            <a:endParaRPr sz="1800" b="0" i="0" u="none" strike="noStrike" cap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if (x &gt; 5)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y = x + 2;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8308343" y="1686561"/>
            <a:ext cx="3730949" cy="2585323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// Ejemplo4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// condición compuesta</a:t>
            </a:r>
            <a:endParaRPr sz="1800" b="0" i="0" u="none" strike="noStrike" cap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if ((x &gt; 5) &amp;&amp; (y &lt; 3)) {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y = x + 2;	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x = x * x;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else {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y = x + 5;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"/>
          <p:cNvSpPr txBox="1">
            <a:spLocks noGrp="1"/>
          </p:cNvSpPr>
          <p:nvPr>
            <p:ph type="title"/>
          </p:nvPr>
        </p:nvSpPr>
        <p:spPr>
          <a:xfrm>
            <a:off x="329525" y="286600"/>
            <a:ext cx="11574300" cy="8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/>
              <a:t>Estructuras condicionales anidadas</a:t>
            </a:r>
            <a:endParaRPr/>
          </a:p>
        </p:txBody>
      </p:sp>
      <p:pic>
        <p:nvPicPr>
          <p:cNvPr id="101" name="Google Shape;101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323850" cy="6867525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3"/>
          <p:cNvSpPr txBox="1"/>
          <p:nvPr/>
        </p:nvSpPr>
        <p:spPr>
          <a:xfrm>
            <a:off x="1391460" y="1720427"/>
            <a:ext cx="7967027" cy="2862322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// Ejemplo5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if (x &gt; 5) {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if (y &lt; 4) // x es mayor a 5 e y menor a 4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	y = x * x;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else // x es mayor a 5 e y no es menor a 4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	y = x – 2;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else { // x no es mayor a 5, el valor de y no interesa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y = x + 5;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 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"/>
          <p:cNvSpPr txBox="1">
            <a:spLocks noGrp="1"/>
          </p:cNvSpPr>
          <p:nvPr>
            <p:ph type="title"/>
          </p:nvPr>
        </p:nvSpPr>
        <p:spPr>
          <a:xfrm>
            <a:off x="329525" y="286600"/>
            <a:ext cx="11574300" cy="8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/>
              <a:t>Diagramas de flujo estructuras condicionales</a:t>
            </a:r>
            <a:endParaRPr/>
          </a:p>
        </p:txBody>
      </p:sp>
      <p:pic>
        <p:nvPicPr>
          <p:cNvPr id="108" name="Google Shape;108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323850" cy="6867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73689" y="1539993"/>
            <a:ext cx="3973689" cy="46359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"/>
          <p:cNvSpPr txBox="1">
            <a:spLocks noGrp="1"/>
          </p:cNvSpPr>
          <p:nvPr>
            <p:ph type="title"/>
          </p:nvPr>
        </p:nvSpPr>
        <p:spPr>
          <a:xfrm>
            <a:off x="329525" y="286600"/>
            <a:ext cx="11574300" cy="8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/>
              <a:t>switch</a:t>
            </a:r>
            <a:endParaRPr/>
          </a:p>
        </p:txBody>
      </p:sp>
      <p:pic>
        <p:nvPicPr>
          <p:cNvPr id="115" name="Google Shape;115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323850" cy="6867525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5"/>
          <p:cNvSpPr txBox="1"/>
          <p:nvPr/>
        </p:nvSpPr>
        <p:spPr>
          <a:xfrm>
            <a:off x="711200" y="1643001"/>
            <a:ext cx="10171289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El switch se utiliza cuando necesitamos anidar varios if y las evaluaciones son expresiones que devuelven un entero. Es una simplificación para varios if – else. 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5"/>
          <p:cNvSpPr txBox="1"/>
          <p:nvPr/>
        </p:nvSpPr>
        <p:spPr>
          <a:xfrm>
            <a:off x="711200" y="2984399"/>
            <a:ext cx="10171289" cy="1754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switch (expresion) {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case n1: sentencia_1;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case n2: sentencia_2;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...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default: sentencia_n; // El default es optativo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 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"/>
          <p:cNvSpPr txBox="1">
            <a:spLocks noGrp="1"/>
          </p:cNvSpPr>
          <p:nvPr>
            <p:ph type="title"/>
          </p:nvPr>
        </p:nvSpPr>
        <p:spPr>
          <a:xfrm>
            <a:off x="329525" y="286600"/>
            <a:ext cx="11574300" cy="8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/>
              <a:t>switch – ejemplo </a:t>
            </a:r>
            <a:endParaRPr/>
          </a:p>
        </p:txBody>
      </p:sp>
      <p:pic>
        <p:nvPicPr>
          <p:cNvPr id="123" name="Google Shape;123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323850" cy="6867525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6"/>
          <p:cNvSpPr txBox="1"/>
          <p:nvPr/>
        </p:nvSpPr>
        <p:spPr>
          <a:xfrm>
            <a:off x="643466" y="1533903"/>
            <a:ext cx="10171289" cy="2031325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// Ejemplo sin switch.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if (x == 1) System.out.println(“Uno”);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else if (x == 2) </a:t>
            </a: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printf</a:t>
            </a:r>
            <a:r>
              <a:rPr lang="en-US" sz="18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(“Dos”); </a:t>
            </a:r>
            <a:endParaRPr/>
          </a:p>
          <a:p>
            <a:pPr lvl="0"/>
            <a:r>
              <a:rPr lang="en-US" sz="18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else if (x == 3) </a:t>
            </a: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printf</a:t>
            </a:r>
            <a:r>
              <a:rPr lang="en-US" sz="18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(“Tres”); </a:t>
            </a:r>
            <a:endParaRPr/>
          </a:p>
          <a:p>
            <a:pPr lvl="0"/>
            <a:r>
              <a:rPr lang="en-US" sz="18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else if (x == 4) </a:t>
            </a: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printf</a:t>
            </a:r>
            <a:r>
              <a:rPr lang="en-US" sz="18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(“Cuatro”); </a:t>
            </a:r>
            <a:endParaRPr/>
          </a:p>
          <a:p>
            <a:pPr lvl="0"/>
            <a:r>
              <a:rPr lang="en-US" sz="18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else if (x == 5) </a:t>
            </a: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printf</a:t>
            </a:r>
            <a:r>
              <a:rPr lang="en-US" sz="18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(“Cinco”); </a:t>
            </a:r>
            <a:endParaRPr/>
          </a:p>
          <a:p>
            <a:pPr lvl="0"/>
            <a:r>
              <a:rPr lang="en-US" sz="18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else </a:t>
            </a: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printf</a:t>
            </a:r>
            <a:r>
              <a:rPr lang="en-US" sz="18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(“Opción no válida”); 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6"/>
          <p:cNvSpPr txBox="1"/>
          <p:nvPr/>
        </p:nvSpPr>
        <p:spPr>
          <a:xfrm>
            <a:off x="643465" y="3729466"/>
            <a:ext cx="10171289" cy="2585323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// Ejemplo utilizando switch.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switch (x) { </a:t>
            </a:r>
            <a:endParaRPr/>
          </a:p>
          <a:p>
            <a:pPr lvl="0"/>
            <a:r>
              <a:rPr lang="en-US" sz="18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case 1: </a:t>
            </a: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printf</a:t>
            </a:r>
            <a:r>
              <a:rPr lang="en-US" sz="18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(“Uno”); break; </a:t>
            </a:r>
            <a:endParaRPr/>
          </a:p>
          <a:p>
            <a:pPr lvl="0"/>
            <a:r>
              <a:rPr lang="en-US" sz="18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case 2: </a:t>
            </a: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printf</a:t>
            </a:r>
            <a:r>
              <a:rPr lang="en-US" sz="18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(“Dos”); break;</a:t>
            </a:r>
            <a:endParaRPr/>
          </a:p>
          <a:p>
            <a:pPr lvl="0"/>
            <a:r>
              <a:rPr lang="en-US" sz="18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case 3: </a:t>
            </a: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printf</a:t>
            </a:r>
            <a:r>
              <a:rPr lang="en-US" sz="18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(“Tres”); break;</a:t>
            </a:r>
            <a:endParaRPr/>
          </a:p>
          <a:p>
            <a:pPr lvl="0"/>
            <a:r>
              <a:rPr lang="en-US" sz="18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case 4: </a:t>
            </a: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printf</a:t>
            </a:r>
            <a:r>
              <a:rPr lang="en-US" sz="18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(“Cuatro”); break;</a:t>
            </a:r>
            <a:endParaRPr/>
          </a:p>
          <a:p>
            <a:pPr lvl="0"/>
            <a:r>
              <a:rPr lang="en-US" sz="18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case 5: </a:t>
            </a: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printf</a:t>
            </a:r>
            <a:r>
              <a:rPr lang="en-US" sz="18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(“Cinco”); break;</a:t>
            </a:r>
            <a:endParaRPr/>
          </a:p>
          <a:p>
            <a:pPr lvl="0"/>
            <a:r>
              <a:rPr lang="en-US" sz="18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default: </a:t>
            </a: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printf</a:t>
            </a:r>
            <a:r>
              <a:rPr lang="en-US" sz="18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(“Opción no válida”);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 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7428089" y="4334932"/>
            <a:ext cx="925689" cy="180623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25400" cap="flat" cmpd="sng">
            <a:solidFill>
              <a:srgbClr val="4E5E5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6"/>
          <p:cNvSpPr txBox="1"/>
          <p:nvPr/>
        </p:nvSpPr>
        <p:spPr>
          <a:xfrm>
            <a:off x="8353778" y="4163633"/>
            <a:ext cx="1659466" cy="523220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break se usa para salir del switch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2"/>
          <p:cNvSpPr txBox="1">
            <a:spLocks noGrp="1"/>
          </p:cNvSpPr>
          <p:nvPr>
            <p:ph type="title"/>
          </p:nvPr>
        </p:nvSpPr>
        <p:spPr>
          <a:xfrm>
            <a:off x="329525" y="286600"/>
            <a:ext cx="11574300" cy="8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/>
              <a:t>Estructuras repetitivas</a:t>
            </a:r>
            <a:endParaRPr/>
          </a:p>
        </p:txBody>
      </p:sp>
      <p:pic>
        <p:nvPicPr>
          <p:cNvPr id="83" name="Google Shape;83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323850" cy="6867525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22"/>
          <p:cNvSpPr txBox="1"/>
          <p:nvPr/>
        </p:nvSpPr>
        <p:spPr>
          <a:xfrm>
            <a:off x="722490" y="2004245"/>
            <a:ext cx="5034844" cy="1631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Muchas veces necesitaremos ejecutar una sentencia de manera repetida. Por ejemplo, imprimir un registro hasta que no quede ninguno en el archivo o listar todos los números primos desde 2 hasta N. </a:t>
            </a:r>
            <a:endParaRPr/>
          </a:p>
        </p:txBody>
      </p:sp>
      <p:pic>
        <p:nvPicPr>
          <p:cNvPr id="85" name="Google Shape;85;p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66757" y="1371202"/>
            <a:ext cx="2996454" cy="49650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 txBox="1">
            <a:spLocks noGrp="1"/>
          </p:cNvSpPr>
          <p:nvPr>
            <p:ph type="title"/>
          </p:nvPr>
        </p:nvSpPr>
        <p:spPr>
          <a:xfrm>
            <a:off x="329525" y="286600"/>
            <a:ext cx="11574300" cy="8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/>
              <a:t>Estructuras repetitivas</a:t>
            </a:r>
            <a:endParaRPr/>
          </a:p>
        </p:txBody>
      </p:sp>
      <p:pic>
        <p:nvPicPr>
          <p:cNvPr id="91" name="Google Shape;91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323850" cy="6867525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"/>
          <p:cNvSpPr txBox="1"/>
          <p:nvPr/>
        </p:nvSpPr>
        <p:spPr>
          <a:xfrm>
            <a:off x="722489" y="2004245"/>
            <a:ext cx="10622700" cy="341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 pueden utilizar tres estructuras repetitivas distintas: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while: cuando se desconoce la cantidad de veces que hay que repetir las instrucciones. Verifica la condición al principio.</a:t>
            </a:r>
            <a:endParaRPr/>
          </a:p>
          <a:p>
            <a:pPr marL="342900" marR="0" lvl="0" indent="-190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 – while: similar al while pero verifica la condición al final.</a:t>
            </a:r>
            <a:endParaRPr/>
          </a:p>
          <a:p>
            <a:pPr marL="342900" marR="0" lvl="0" indent="-190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for: cuando se conoce de </a:t>
            </a:r>
            <a:r>
              <a:rPr lang="en-US" sz="2400"/>
              <a:t>antemano</a:t>
            </a: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la cantidad de veces que hay que repetir las instrucciones.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"/>
          <p:cNvSpPr txBox="1">
            <a:spLocks noGrp="1"/>
          </p:cNvSpPr>
          <p:nvPr>
            <p:ph type="title"/>
          </p:nvPr>
        </p:nvSpPr>
        <p:spPr>
          <a:xfrm>
            <a:off x="329525" y="286600"/>
            <a:ext cx="11574300" cy="8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/>
              <a:t>while</a:t>
            </a:r>
            <a:endParaRPr/>
          </a:p>
        </p:txBody>
      </p:sp>
      <p:pic>
        <p:nvPicPr>
          <p:cNvPr id="98" name="Google Shape;98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323850" cy="6867525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3"/>
          <p:cNvSpPr txBox="1"/>
          <p:nvPr/>
        </p:nvSpPr>
        <p:spPr>
          <a:xfrm>
            <a:off x="632178" y="1553238"/>
            <a:ext cx="11153422" cy="1323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while (condicion)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sentencia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Mientras la condición sea verdadera se ejecutarán la o las sentencias que estén en el bloque. </a:t>
            </a:r>
            <a:endParaRPr/>
          </a:p>
        </p:txBody>
      </p:sp>
      <p:sp>
        <p:nvSpPr>
          <p:cNvPr id="100" name="Google Shape;100;p3"/>
          <p:cNvSpPr txBox="1"/>
          <p:nvPr/>
        </p:nvSpPr>
        <p:spPr>
          <a:xfrm>
            <a:off x="632178" y="3217799"/>
            <a:ext cx="10622843" cy="1938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// Ejemplo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 i = 0;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while (i &lt; 10) {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i++; </a:t>
            </a:r>
            <a:endParaRPr/>
          </a:p>
          <a:p>
            <a:pPr lvl="0"/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 printf</a:t>
            </a: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(“%i “, i);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 </a:t>
            </a:r>
            <a:endParaRPr/>
          </a:p>
        </p:txBody>
      </p:sp>
      <p:sp>
        <p:nvSpPr>
          <p:cNvPr id="101" name="Google Shape;101;p3"/>
          <p:cNvSpPr txBox="1"/>
          <p:nvPr/>
        </p:nvSpPr>
        <p:spPr>
          <a:xfrm>
            <a:off x="632177" y="5418891"/>
            <a:ext cx="11153422" cy="707886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Nota: el ejemplo anterior es a título de ejemplo, pero para ese problema deberíamos utilizar la estructura for.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"/>
          <p:cNvSpPr txBox="1">
            <a:spLocks noGrp="1"/>
          </p:cNvSpPr>
          <p:nvPr>
            <p:ph type="title"/>
          </p:nvPr>
        </p:nvSpPr>
        <p:spPr>
          <a:xfrm>
            <a:off x="329525" y="286600"/>
            <a:ext cx="11574300" cy="8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/>
              <a:t>do – while </a:t>
            </a:r>
            <a:endParaRPr/>
          </a:p>
        </p:txBody>
      </p:sp>
      <p:pic>
        <p:nvPicPr>
          <p:cNvPr id="107" name="Google Shape;107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323850" cy="6867525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4"/>
          <p:cNvSpPr txBox="1"/>
          <p:nvPr/>
        </p:nvSpPr>
        <p:spPr>
          <a:xfrm>
            <a:off x="632178" y="1553238"/>
            <a:ext cx="11153422" cy="1631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 x = 10;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 { </a:t>
            </a:r>
            <a:endParaRPr/>
          </a:p>
          <a:p>
            <a:pPr lvl="0"/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printf</a:t>
            </a: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(“%i “, x);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x--;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 while (x &gt; 0); </a:t>
            </a:r>
            <a:endParaRPr/>
          </a:p>
        </p:txBody>
      </p:sp>
      <p:sp>
        <p:nvSpPr>
          <p:cNvPr id="109" name="Google Shape;109;p4"/>
          <p:cNvSpPr txBox="1"/>
          <p:nvPr/>
        </p:nvSpPr>
        <p:spPr>
          <a:xfrm>
            <a:off x="632178" y="3798183"/>
            <a:ext cx="11153422" cy="707886"/>
          </a:xfrm>
          <a:prstGeom prst="rect">
            <a:avLst/>
          </a:prstGeom>
          <a:noFill/>
          <a:ln w="9525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Nota 1: a diferencia del while, la condición se verifica al final del bloque, por lo que una vez entrará por lo menos.</a:t>
            </a:r>
            <a:endParaRPr/>
          </a:p>
        </p:txBody>
      </p:sp>
      <p:sp>
        <p:nvSpPr>
          <p:cNvPr id="110" name="Google Shape;110;p4"/>
          <p:cNvSpPr txBox="1"/>
          <p:nvPr/>
        </p:nvSpPr>
        <p:spPr>
          <a:xfrm>
            <a:off x="632178" y="4950819"/>
            <a:ext cx="11153422" cy="707886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Nota 2: el ejemplo anterior es a título de ejemplo, pero para ese problema deberíamos utilizar la estructura for.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"/>
          <p:cNvSpPr txBox="1">
            <a:spLocks noGrp="1"/>
          </p:cNvSpPr>
          <p:nvPr>
            <p:ph type="title"/>
          </p:nvPr>
        </p:nvSpPr>
        <p:spPr>
          <a:xfrm>
            <a:off x="329525" y="286600"/>
            <a:ext cx="11574300" cy="8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/>
              <a:t>for</a:t>
            </a:r>
            <a:endParaRPr/>
          </a:p>
        </p:txBody>
      </p:sp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323850" cy="6867525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632178" y="1575815"/>
            <a:ext cx="11153422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 (sentencia_inicio; condicion; sentencias)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otras_sentencias </a:t>
            </a:r>
            <a:endParaRPr/>
          </a:p>
        </p:txBody>
      </p:sp>
      <p:sp>
        <p:nvSpPr>
          <p:cNvPr id="118" name="Google Shape;118;p5"/>
          <p:cNvSpPr txBox="1"/>
          <p:nvPr/>
        </p:nvSpPr>
        <p:spPr>
          <a:xfrm>
            <a:off x="632178" y="2799733"/>
            <a:ext cx="11153422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 sentencia_inicio se ejecuta solo una vez, luego verifica la condición, ejecuta las otras_sentencias en caso de que la condición sea verdadera y, finalmente, ejecuta las sentencias que están como último parámetro. </a:t>
            </a:r>
            <a:endParaRPr/>
          </a:p>
        </p:txBody>
      </p:sp>
      <p:sp>
        <p:nvSpPr>
          <p:cNvPr id="119" name="Google Shape;119;p5"/>
          <p:cNvSpPr txBox="1"/>
          <p:nvPr/>
        </p:nvSpPr>
        <p:spPr>
          <a:xfrm>
            <a:off x="539964" y="4392983"/>
            <a:ext cx="11153422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Tanto las sentencias de inicio como las del tercer parámetro podrían ser varias, en este caso se deberían separar mediante una coma. Pero, también, podrían estar vacías. 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"/>
          <p:cNvSpPr txBox="1">
            <a:spLocks noGrp="1"/>
          </p:cNvSpPr>
          <p:nvPr>
            <p:ph type="title"/>
          </p:nvPr>
        </p:nvSpPr>
        <p:spPr>
          <a:xfrm>
            <a:off x="329525" y="286600"/>
            <a:ext cx="11574300" cy="8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/>
              <a:t>for – ejemplos </a:t>
            </a:r>
            <a:endParaRPr/>
          </a:p>
        </p:txBody>
      </p:sp>
      <p:pic>
        <p:nvPicPr>
          <p:cNvPr id="125" name="Google Shape;125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323850" cy="68675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6"/>
          <p:cNvSpPr txBox="1"/>
          <p:nvPr/>
        </p:nvSpPr>
        <p:spPr>
          <a:xfrm>
            <a:off x="7202311" y="1712295"/>
            <a:ext cx="4310238" cy="1815882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// Ejemplo 4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// Imprime los números del 1 al 9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// El primer parámetro está vacío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 = 1;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 ( ; i &lt; 10; i++) { </a:t>
            </a:r>
            <a:endParaRPr/>
          </a:p>
          <a:p>
            <a:pPr lvl="0"/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lang="en-US" sz="1600"/>
              <a:t> printf(“%i “, i);</a:t>
            </a: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 </a:t>
            </a:r>
            <a:endParaRPr/>
          </a:p>
        </p:txBody>
      </p:sp>
      <p:sp>
        <p:nvSpPr>
          <p:cNvPr id="127" name="Google Shape;127;p6"/>
          <p:cNvSpPr txBox="1"/>
          <p:nvPr/>
        </p:nvSpPr>
        <p:spPr>
          <a:xfrm>
            <a:off x="539964" y="2816558"/>
            <a:ext cx="5420569" cy="1323439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// Ejemplo 2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// Imprime los números del 1 al 9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// Se ejecutan dos sentencias en el último parámetro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// El cuerpo del for es vacío </a:t>
            </a:r>
            <a:endParaRPr/>
          </a:p>
          <a:p>
            <a:pPr lvl="0"/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 (i = 1; i &lt; 10; </a:t>
            </a:r>
            <a:r>
              <a:rPr lang="en-US" sz="1600"/>
              <a:t>printf(“%i “, i)</a:t>
            </a: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i++); 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6"/>
          <p:cNvSpPr txBox="1"/>
          <p:nvPr/>
        </p:nvSpPr>
        <p:spPr>
          <a:xfrm>
            <a:off x="539964" y="4394098"/>
            <a:ext cx="4065903" cy="1815882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// Ejemplo 3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// Imprime los números del 1 al 9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// El tercer parámetro está vacío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 (i = 1; i &lt; 10; ) { </a:t>
            </a:r>
            <a:endParaRPr/>
          </a:p>
          <a:p>
            <a:pPr lvl="0"/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lang="en-US" sz="1600"/>
              <a:t> printf(“%i “, i);</a:t>
            </a: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;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i++;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 </a:t>
            </a:r>
            <a:endParaRPr/>
          </a:p>
        </p:txBody>
      </p:sp>
      <p:sp>
        <p:nvSpPr>
          <p:cNvPr id="129" name="Google Shape;129;p6"/>
          <p:cNvSpPr txBox="1"/>
          <p:nvPr/>
        </p:nvSpPr>
        <p:spPr>
          <a:xfrm>
            <a:off x="539964" y="1555961"/>
            <a:ext cx="4310238" cy="1077218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// Ejemplo 1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// Imprime los números del 1 al 9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 (i = 1; i &lt; 10; i++)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printf(“%i “, i); </a:t>
            </a:r>
            <a:endParaRPr/>
          </a:p>
        </p:txBody>
      </p:sp>
      <p:sp>
        <p:nvSpPr>
          <p:cNvPr id="130" name="Google Shape;130;p6"/>
          <p:cNvSpPr txBox="1"/>
          <p:nvPr/>
        </p:nvSpPr>
        <p:spPr>
          <a:xfrm>
            <a:off x="7202311" y="4535893"/>
            <a:ext cx="4449725" cy="830997"/>
          </a:xfrm>
          <a:prstGeom prst="rect">
            <a:avLst/>
          </a:prstGeom>
          <a:solidFill>
            <a:srgbClr val="CBCBEF"/>
          </a:solidFill>
          <a:ln w="28575" cap="flat" cmpd="sng">
            <a:solidFill>
              <a:srgbClr val="00B0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Nota: si bien los ejemplos 2, 3 y 4 funcionan correctamente, recomendamos el estilo del ejemplo 1, que es más claro. 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>
          <a:extLst>
            <a:ext uri="{FF2B5EF4-FFF2-40B4-BE49-F238E27FC236}">
              <a16:creationId xmlns:a16="http://schemas.microsoft.com/office/drawing/2014/main" id="{898CBF27-9AC8-BB4A-1455-AC77D3F79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">
            <a:extLst>
              <a:ext uri="{FF2B5EF4-FFF2-40B4-BE49-F238E27FC236}">
                <a16:creationId xmlns:a16="http://schemas.microsoft.com/office/drawing/2014/main" id="{E214E173-7C17-A033-13F5-65B4096E3AA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9525" y="286600"/>
            <a:ext cx="11574300" cy="8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/>
              <a:t>Funciones</a:t>
            </a:r>
            <a:endParaRPr/>
          </a:p>
        </p:txBody>
      </p:sp>
      <p:pic>
        <p:nvPicPr>
          <p:cNvPr id="116" name="Google Shape;116;p5">
            <a:extLst>
              <a:ext uri="{FF2B5EF4-FFF2-40B4-BE49-F238E27FC236}">
                <a16:creationId xmlns:a16="http://schemas.microsoft.com/office/drawing/2014/main" id="{BD6466E9-1289-159C-9553-BBDF797D48B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323850" cy="68675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17;p5">
            <a:extLst>
              <a:ext uri="{FF2B5EF4-FFF2-40B4-BE49-F238E27FC236}">
                <a16:creationId xmlns:a16="http://schemas.microsoft.com/office/drawing/2014/main" id="{D39C8EDA-2BB1-35C2-F162-2E3475FAD824}"/>
              </a:ext>
            </a:extLst>
          </p:cNvPr>
          <p:cNvSpPr txBox="1"/>
          <p:nvPr/>
        </p:nvSpPr>
        <p:spPr>
          <a:xfrm>
            <a:off x="539964" y="1419200"/>
            <a:ext cx="11153422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Declaración: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ES"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b="0" i="0" u="none" strike="noStrike" cap="none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tipo_dato_a_devolver  nombre_funcion(parámetros…);</a:t>
            </a:r>
            <a:endParaRPr sz="240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Google Shape;117;p5">
            <a:extLst>
              <a:ext uri="{FF2B5EF4-FFF2-40B4-BE49-F238E27FC236}">
                <a16:creationId xmlns:a16="http://schemas.microsoft.com/office/drawing/2014/main" id="{FEE0CD98-F0FC-7730-247A-C84C588262F2}"/>
              </a:ext>
            </a:extLst>
          </p:cNvPr>
          <p:cNvSpPr txBox="1"/>
          <p:nvPr/>
        </p:nvSpPr>
        <p:spPr>
          <a:xfrm>
            <a:off x="539964" y="3181169"/>
            <a:ext cx="11153422" cy="2308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Definición: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ES"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b="0" i="0" u="none" strike="noStrike" cap="none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tipo_dato_a_devolver  nombre_funcion(parámetros…) {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latin typeface="Courier New" panose="02070309020205020404" pitchFamily="49" charset="0"/>
                <a:cs typeface="Courier New" panose="02070309020205020404" pitchFamily="49" charset="0"/>
              </a:rPr>
              <a:t>   // código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b="0" i="0" u="none" strike="noStrike" cap="none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   ...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b="0" i="0" u="none" strike="noStrike" cap="none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}</a:t>
            </a:r>
            <a:endParaRPr sz="240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4713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>
          <a:extLst>
            <a:ext uri="{FF2B5EF4-FFF2-40B4-BE49-F238E27FC236}">
              <a16:creationId xmlns:a16="http://schemas.microsoft.com/office/drawing/2014/main" id="{736E0ED9-67BE-8B5B-7713-E31B32840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">
            <a:extLst>
              <a:ext uri="{FF2B5EF4-FFF2-40B4-BE49-F238E27FC236}">
                <a16:creationId xmlns:a16="http://schemas.microsoft.com/office/drawing/2014/main" id="{5DB322BC-7521-EA1A-975B-0D40A09A7CE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9525" y="286600"/>
            <a:ext cx="11574300" cy="8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/>
              <a:t>Funciones: ejemplos</a:t>
            </a:r>
            <a:endParaRPr/>
          </a:p>
        </p:txBody>
      </p:sp>
      <p:pic>
        <p:nvPicPr>
          <p:cNvPr id="116" name="Google Shape;116;p5">
            <a:extLst>
              <a:ext uri="{FF2B5EF4-FFF2-40B4-BE49-F238E27FC236}">
                <a16:creationId xmlns:a16="http://schemas.microsoft.com/office/drawing/2014/main" id="{51DF27A0-3D85-F3DA-A2AB-8465A6AC47F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323850" cy="68675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17;p5">
            <a:extLst>
              <a:ext uri="{FF2B5EF4-FFF2-40B4-BE49-F238E27FC236}">
                <a16:creationId xmlns:a16="http://schemas.microsoft.com/office/drawing/2014/main" id="{D1591873-118E-7A28-A718-CEFF0E2A820B}"/>
              </a:ext>
            </a:extLst>
          </p:cNvPr>
          <p:cNvSpPr txBox="1"/>
          <p:nvPr/>
        </p:nvSpPr>
        <p:spPr>
          <a:xfrm>
            <a:off x="539964" y="1419200"/>
            <a:ext cx="11153422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s-ES" sz="2400"/>
              <a:t>Declaración:</a:t>
            </a:r>
          </a:p>
          <a:p>
            <a:pPr lvl="0"/>
            <a:endParaRPr lang="es-ES" sz="24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b="0" i="0" u="none" strike="noStrike" cap="none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int suma(int a, int b);</a:t>
            </a:r>
            <a:endParaRPr sz="240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Google Shape;117;p5">
            <a:extLst>
              <a:ext uri="{FF2B5EF4-FFF2-40B4-BE49-F238E27FC236}">
                <a16:creationId xmlns:a16="http://schemas.microsoft.com/office/drawing/2014/main" id="{78439CFA-F454-6EB3-DD31-099D1F7B69FF}"/>
              </a:ext>
            </a:extLst>
          </p:cNvPr>
          <p:cNvSpPr txBox="1"/>
          <p:nvPr/>
        </p:nvSpPr>
        <p:spPr>
          <a:xfrm>
            <a:off x="539964" y="3181169"/>
            <a:ext cx="11153422" cy="2308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Definición: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ES"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b="0" i="0" u="none" strike="noStrike" cap="none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int suma(int a, int b) {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latin typeface="Courier New" panose="02070309020205020404" pitchFamily="49" charset="0"/>
                <a:cs typeface="Courier New" panose="02070309020205020404" pitchFamily="49" charset="0"/>
              </a:rPr>
              <a:t>   int z = a + b;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b="0" i="0" u="none" strike="noStrike" cap="none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   return z;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b="0" i="0" u="none" strike="noStrike" cap="none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}</a:t>
            </a:r>
            <a:endParaRPr sz="240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3645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25"/>
          <p:cNvPicPr preferRelativeResize="0"/>
          <p:nvPr/>
        </p:nvPicPr>
        <p:blipFill rotWithShape="1">
          <a:blip r:embed="rId3">
            <a:alphaModFix/>
          </a:blip>
          <a:srcRect t="18486" b="18482"/>
          <a:stretch/>
        </p:blipFill>
        <p:spPr>
          <a:xfrm>
            <a:off x="1271587" y="1273175"/>
            <a:ext cx="9105900" cy="4321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2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323850" cy="6867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868150" y="0"/>
            <a:ext cx="323850" cy="6867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Java">
  <a:themeElements>
    <a:clrScheme name="Personalizad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FFFF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629</TotalTime>
  <Words>2246</Words>
  <Application>Microsoft Office PowerPoint</Application>
  <PresentationFormat>Panorámica</PresentationFormat>
  <Paragraphs>433</Paragraphs>
  <Slides>41</Slides>
  <Notes>41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41</vt:i4>
      </vt:variant>
    </vt:vector>
  </HeadingPairs>
  <TitlesOfParts>
    <vt:vector size="47" baseType="lpstr">
      <vt:lpstr>Roboto Mono ExtraLight</vt:lpstr>
      <vt:lpstr>Calibri</vt:lpstr>
      <vt:lpstr>Roboto Mono</vt:lpstr>
      <vt:lpstr>Courier New</vt:lpstr>
      <vt:lpstr>Arial</vt:lpstr>
      <vt:lpstr>Java</vt:lpstr>
      <vt:lpstr>Presentación de PowerPoint</vt:lpstr>
      <vt:lpstr>Presentación de PowerPoint</vt:lpstr>
      <vt:lpstr>Contenido: </vt:lpstr>
      <vt:lpstr>Bien, comencemos… Bien, comencemos… Bien, comencemos… Bien, comencemos… Hola mundo (código)</vt:lpstr>
      <vt:lpstr>Bien, comencemos… Bien, comencemos… Bien, comencemos… Bien, comencemos… Consola</vt:lpstr>
      <vt:lpstr>Bien, comencemos… Bien, comencemos… Bien, comencemos… Bien, comencemos… IDEs</vt:lpstr>
      <vt:lpstr>Bien, comencemos… Bien, comencemos… Bien, comencemos… Bien, comencemos… Desde un IDE</vt:lpstr>
      <vt:lpstr>Bien, comencemos… Bien, comencemos… Bien, comencemos… Bien, comencemos… Desde un IDE</vt:lpstr>
      <vt:lpstr>Bien, comencemos… Bien, comencemos… Bien, comencemos… Bien, comencemos… Desde un IDE</vt:lpstr>
      <vt:lpstr>Bien, comencemos… Bien, comencemos… Bien, comencemos… Bien, comencemos… Desde un IDE</vt:lpstr>
      <vt:lpstr>Bien, comencemos… Bien, comencemos… Bien, comencemos… Bien, comencemos… Desde un IDE</vt:lpstr>
      <vt:lpstr>Bien, comencemos… Bien, comencemos… Bien, comencemos… Bien, comencemos… Desde un IDE</vt:lpstr>
      <vt:lpstr>Bien, comencemos… Bien, comencemos… Bien, comencemos… Bien, comencemos… Desde un IDE</vt:lpstr>
      <vt:lpstr>Bien, comencemos… Bien, comencemos… Bien, comencemos… Bien, comencemos… Desde un IDE</vt:lpstr>
      <vt:lpstr>Bien, comencemos… Bien, comencemos… Bien, comencemos… Bien, comencemos… Reglas</vt:lpstr>
      <vt:lpstr>Bien, comencemos… Bien, comencemos… Bien, comencemos… Bien, comencemos… Tipos de datos</vt:lpstr>
      <vt:lpstr>Bien, comencemos… Bien, comencemos… Bien, comencemos… Bien, comencemos… Modificadores</vt:lpstr>
      <vt:lpstr>Variables</vt:lpstr>
      <vt:lpstr>Bien, comencemos… Bien, comencemos… Bien, comencemos… Bien, comencemos… Constantes</vt:lpstr>
      <vt:lpstr>Bien, comencemos… Bien, comencemos… Bien, comencemos… Bien, comencemos… Ingreso de datos por teclado</vt:lpstr>
      <vt:lpstr>Operadores de asignación</vt:lpstr>
      <vt:lpstr>Operadores aritméticos</vt:lpstr>
      <vt:lpstr>Incremento – decremento </vt:lpstr>
      <vt:lpstr>Relacionales y de igualdad</vt:lpstr>
      <vt:lpstr>Lógicos</vt:lpstr>
      <vt:lpstr>Tablas de verdad</vt:lpstr>
      <vt:lpstr>Estructuras condicionales</vt:lpstr>
      <vt:lpstr>Estructuras condicionales – ejemplos </vt:lpstr>
      <vt:lpstr>Estructuras condicionales anidadas</vt:lpstr>
      <vt:lpstr>Diagramas de flujo estructuras condicionales</vt:lpstr>
      <vt:lpstr>switch</vt:lpstr>
      <vt:lpstr>switch – ejemplo </vt:lpstr>
      <vt:lpstr>Estructuras repetitivas</vt:lpstr>
      <vt:lpstr>Estructuras repetitivas</vt:lpstr>
      <vt:lpstr>while</vt:lpstr>
      <vt:lpstr>do – while </vt:lpstr>
      <vt:lpstr>for</vt:lpstr>
      <vt:lpstr>for – ejemplos </vt:lpstr>
      <vt:lpstr>Funciones</vt:lpstr>
      <vt:lpstr>Funciones: ejemplos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Colossus User</dc:creator>
  <cp:lastModifiedBy>ANDRES ALBERTO JUAREZ</cp:lastModifiedBy>
  <cp:revision>30</cp:revision>
  <dcterms:created xsi:type="dcterms:W3CDTF">2010-05-04T20:17:42Z</dcterms:created>
  <dcterms:modified xsi:type="dcterms:W3CDTF">2025-10-16T21:47:02Z</dcterms:modified>
</cp:coreProperties>
</file>